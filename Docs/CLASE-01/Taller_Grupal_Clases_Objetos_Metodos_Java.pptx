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Presentar la dinámica: equipos de 4, un reparto de roles por ejercicio, desarrollo en VS Code y comparación con la salida esperada. Los ejercicios van de menor a mayor dificultad; el 5 integra todo.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Idea clave: un mismo objeto Docente puede ser compartido por varios cursos. Si se cambia el nombre del docente, ambos cursos reflejan el cambio. Tiempo sugerido: 15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Idea clave: la firma (nombre + parámetros) y el tipo de retorno. Verificar que cada método usa return con el tipo correcto. Ejemplo de notas: 9.0, 8.0, 8.5. Tiempo sugerido: 12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Idea clave: paso de parámetros por referencia. El método modifica el mismo objeto Libro que se creó en main, por eso el segundo intento devuelve false. Tiempo sugerido: 15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Idea clave: Carrito debe usar getPrecio() de Producto (comunicación por métodos públicos). Ejemplo: productos de 20.0 y 15.5. Tiempo sugerido: 15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Reto final: integra colaboración, parámetros por referencia y retorno boolean. Ejemplo: origen 500.0, destino 250.0, monto 100.0. Segunda prueba: monto 1000.0 debe retornar false sin alterar saldos. Tiempo sugerido: 20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rra lateral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Etiqueta taller"/>
          <p:cNvSpPr/>
          <p:nvPr/>
        </p:nvSpPr>
        <p:spPr>
          <a:xfrm>
            <a:off x="868680" y="822960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 i="0">
                <a:solidFill>
                  <a:srgbClr val="2563EB"/>
                </a:solidFill>
                <a:latin typeface="Arial"/>
              </a:rPr>
              <a:t>TALLER GRUPAL</a:t>
            </a:r>
          </a:p>
        </p:txBody>
      </p:sp>
      <p:sp>
        <p:nvSpPr>
          <p:cNvPr id="4" name="Título"/>
          <p:cNvSpPr txBox="1"/>
          <p:nvPr/>
        </p:nvSpPr>
        <p:spPr>
          <a:xfrm>
            <a:off x="868680" y="1463040"/>
            <a:ext cx="566928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1F2A44"/>
                </a:solidFill>
                <a:latin typeface="Arial"/>
              </a:rPr>
              <a:t>Clases, Objetos y Métodos en Java</a:t>
            </a:r>
          </a:p>
        </p:txBody>
      </p:sp>
      <p:sp>
        <p:nvSpPr>
          <p:cNvPr id="5" name="Subrayado título"/>
          <p:cNvSpPr/>
          <p:nvPr/>
        </p:nvSpPr>
        <p:spPr>
          <a:xfrm>
            <a:off x="868680" y="3429000"/>
            <a:ext cx="100584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ubtítulo"/>
          <p:cNvSpPr txBox="1"/>
          <p:nvPr/>
        </p:nvSpPr>
        <p:spPr>
          <a:xfrm>
            <a:off x="868680" y="3657600"/>
            <a:ext cx="5669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Arial"/>
              </a:rPr>
              <a:t>5 ejercicios prácticos para resolver en equipo
Algoritmos y Lógica de Programación (Paralelo 1B)</a:t>
            </a:r>
          </a:p>
        </p:txBody>
      </p:sp>
      <p:sp>
        <p:nvSpPr>
          <p:cNvPr id="7" name="Etiqueta instrucciones"/>
          <p:cNvSpPr txBox="1"/>
          <p:nvPr/>
        </p:nvSpPr>
        <p:spPr>
          <a:xfrm>
            <a:off x="868680" y="47548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  <a:latin typeface="Arial"/>
              </a:rPr>
              <a:t>CÓMO TRABAJAR</a:t>
            </a:r>
          </a:p>
        </p:txBody>
      </p:sp>
      <p:sp>
        <p:nvSpPr>
          <p:cNvPr id="8" name="Instrucción 1"/>
          <p:cNvSpPr/>
          <p:nvPr/>
        </p:nvSpPr>
        <p:spPr>
          <a:xfrm>
            <a:off x="868680" y="5074920"/>
            <a:ext cx="1783080" cy="118872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ítulo instrucción 1"/>
          <p:cNvSpPr txBox="1"/>
          <p:nvPr/>
        </p:nvSpPr>
        <p:spPr>
          <a:xfrm>
            <a:off x="1005839" y="5166360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F2A44"/>
                </a:solidFill>
                <a:latin typeface="Arial"/>
              </a:rPr>
              <a:t>Equipos de 4</a:t>
            </a:r>
          </a:p>
        </p:txBody>
      </p:sp>
      <p:sp>
        <p:nvSpPr>
          <p:cNvPr id="10" name="Texto instrucción 1"/>
          <p:cNvSpPr txBox="1"/>
          <p:nvPr/>
        </p:nvSpPr>
        <p:spPr>
          <a:xfrm>
            <a:off x="1005839" y="5486400"/>
            <a:ext cx="1508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374151"/>
                </a:solidFill>
                <a:latin typeface="Arial"/>
              </a:rPr>
              <a:t>Repartan los roles sugeridos en cada ejercicio.</a:t>
            </a:r>
          </a:p>
        </p:txBody>
      </p:sp>
      <p:sp>
        <p:nvSpPr>
          <p:cNvPr id="11" name="Instrucción 2"/>
          <p:cNvSpPr/>
          <p:nvPr/>
        </p:nvSpPr>
        <p:spPr>
          <a:xfrm>
            <a:off x="2788920" y="5074920"/>
            <a:ext cx="1783080" cy="118872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ítulo instrucción 2"/>
          <p:cNvSpPr txBox="1"/>
          <p:nvPr/>
        </p:nvSpPr>
        <p:spPr>
          <a:xfrm>
            <a:off x="2926079" y="5166360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F2A44"/>
                </a:solidFill>
                <a:latin typeface="Arial"/>
              </a:rPr>
              <a:t>VS Code</a:t>
            </a:r>
          </a:p>
        </p:txBody>
      </p:sp>
      <p:sp>
        <p:nvSpPr>
          <p:cNvPr id="13" name="Texto instrucción 2"/>
          <p:cNvSpPr txBox="1"/>
          <p:nvPr/>
        </p:nvSpPr>
        <p:spPr>
          <a:xfrm>
            <a:off x="2926079" y="5486400"/>
            <a:ext cx="1508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374151"/>
                </a:solidFill>
                <a:latin typeface="Arial"/>
              </a:rPr>
              <a:t>Escriban el código Java completo y ejecútenlo.</a:t>
            </a:r>
          </a:p>
        </p:txBody>
      </p:sp>
      <p:sp>
        <p:nvSpPr>
          <p:cNvPr id="14" name="Instrucción 3"/>
          <p:cNvSpPr/>
          <p:nvPr/>
        </p:nvSpPr>
        <p:spPr>
          <a:xfrm>
            <a:off x="4709160" y="5074920"/>
            <a:ext cx="1783080" cy="118872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ítulo instrucción 3"/>
          <p:cNvSpPr txBox="1"/>
          <p:nvPr/>
        </p:nvSpPr>
        <p:spPr>
          <a:xfrm>
            <a:off x="4846320" y="5166360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F2A44"/>
                </a:solidFill>
                <a:latin typeface="Arial"/>
              </a:rPr>
              <a:t>Prueben en main</a:t>
            </a:r>
          </a:p>
        </p:txBody>
      </p:sp>
      <p:sp>
        <p:nvSpPr>
          <p:cNvPr id="16" name="Texto instrucción 3"/>
          <p:cNvSpPr txBox="1"/>
          <p:nvPr/>
        </p:nvSpPr>
        <p:spPr>
          <a:xfrm>
            <a:off x="4846320" y="5486400"/>
            <a:ext cx="1508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374151"/>
                </a:solidFill>
                <a:latin typeface="Arial"/>
              </a:rPr>
              <a:t>Comparen su consola con la salida esperada.</a:t>
            </a:r>
          </a:p>
        </p:txBody>
      </p:sp>
      <p:sp>
        <p:nvSpPr>
          <p:cNvPr id="17" name="Etiqueta índice"/>
          <p:cNvSpPr txBox="1"/>
          <p:nvPr/>
        </p:nvSpPr>
        <p:spPr>
          <a:xfrm>
            <a:off x="7223760" y="868680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6B7280"/>
                </a:solidFill>
                <a:latin typeface="Arial"/>
              </a:rPr>
              <a:t>LOS 5 EJERCICIOS</a:t>
            </a:r>
          </a:p>
        </p:txBody>
      </p:sp>
      <p:sp>
        <p:nvSpPr>
          <p:cNvPr id="18" name="Índice 1"/>
          <p:cNvSpPr/>
          <p:nvPr/>
        </p:nvSpPr>
        <p:spPr>
          <a:xfrm>
            <a:off x="7223760" y="1280160"/>
            <a:ext cx="4325112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anja índice 1"/>
          <p:cNvSpPr/>
          <p:nvPr/>
        </p:nvSpPr>
        <p:spPr>
          <a:xfrm>
            <a:off x="7223760" y="1280160"/>
            <a:ext cx="82296" cy="8412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Número índice 1"/>
          <p:cNvSpPr/>
          <p:nvPr/>
        </p:nvSpPr>
        <p:spPr>
          <a:xfrm>
            <a:off x="7498079" y="1435607"/>
            <a:ext cx="530352" cy="530352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700" b="1" i="0">
                <a:solidFill>
                  <a:srgbClr val="2563EB"/>
                </a:solidFill>
                <a:latin typeface="Arial"/>
              </a:rPr>
              <a:t>1</a:t>
            </a:r>
          </a:p>
        </p:txBody>
      </p:sp>
      <p:sp>
        <p:nvSpPr>
          <p:cNvPr id="21" name="Título índice 1"/>
          <p:cNvSpPr txBox="1"/>
          <p:nvPr/>
        </p:nvSpPr>
        <p:spPr>
          <a:xfrm>
            <a:off x="8229600" y="1408176"/>
            <a:ext cx="3200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2A44"/>
                </a:solidFill>
                <a:latin typeface="Arial"/>
              </a:rPr>
              <a:t>Curso y Docente</a:t>
            </a:r>
          </a:p>
        </p:txBody>
      </p:sp>
      <p:sp>
        <p:nvSpPr>
          <p:cNvPr id="22" name="Descripción índice 1"/>
          <p:cNvSpPr txBox="1"/>
          <p:nvPr/>
        </p:nvSpPr>
        <p:spPr>
          <a:xfrm>
            <a:off x="8229600" y="17373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6B7280"/>
                </a:solidFill>
                <a:latin typeface="Arial"/>
              </a:rPr>
              <a:t>Colaboración por atributo</a:t>
            </a:r>
          </a:p>
        </p:txBody>
      </p:sp>
      <p:sp>
        <p:nvSpPr>
          <p:cNvPr id="23" name="Índice 2"/>
          <p:cNvSpPr/>
          <p:nvPr/>
        </p:nvSpPr>
        <p:spPr>
          <a:xfrm>
            <a:off x="7223760" y="2267712"/>
            <a:ext cx="4325112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anja índice 2"/>
          <p:cNvSpPr/>
          <p:nvPr/>
        </p:nvSpPr>
        <p:spPr>
          <a:xfrm>
            <a:off x="7223760" y="2267712"/>
            <a:ext cx="82296" cy="841248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Número índice 2"/>
          <p:cNvSpPr/>
          <p:nvPr/>
        </p:nvSpPr>
        <p:spPr>
          <a:xfrm>
            <a:off x="7498079" y="2423160"/>
            <a:ext cx="530352" cy="530352"/>
          </a:xfrm>
          <a:prstGeom prst="ellipse">
            <a:avLst/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700" b="1" i="0">
                <a:solidFill>
                  <a:srgbClr val="059669"/>
                </a:solidFill>
                <a:latin typeface="Arial"/>
              </a:rPr>
              <a:t>2</a:t>
            </a:r>
          </a:p>
        </p:txBody>
      </p:sp>
      <p:sp>
        <p:nvSpPr>
          <p:cNvPr id="26" name="Título índice 2"/>
          <p:cNvSpPr txBox="1"/>
          <p:nvPr/>
        </p:nvSpPr>
        <p:spPr>
          <a:xfrm>
            <a:off x="8229600" y="2395728"/>
            <a:ext cx="3200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2A44"/>
                </a:solidFill>
                <a:latin typeface="Arial"/>
              </a:rPr>
              <a:t>Calculadora de notas</a:t>
            </a:r>
          </a:p>
        </p:txBody>
      </p:sp>
      <p:sp>
        <p:nvSpPr>
          <p:cNvPr id="27" name="Descripción índice 2"/>
          <p:cNvSpPr txBox="1"/>
          <p:nvPr/>
        </p:nvSpPr>
        <p:spPr>
          <a:xfrm>
            <a:off x="8229600" y="272491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6B7280"/>
                </a:solidFill>
                <a:latin typeface="Arial"/>
              </a:rPr>
              <a:t>Firmas y tipos de retorno</a:t>
            </a:r>
          </a:p>
        </p:txBody>
      </p:sp>
      <p:sp>
        <p:nvSpPr>
          <p:cNvPr id="28" name="Índice 3"/>
          <p:cNvSpPr/>
          <p:nvPr/>
        </p:nvSpPr>
        <p:spPr>
          <a:xfrm>
            <a:off x="7223760" y="3255264"/>
            <a:ext cx="4325112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anja índice 3"/>
          <p:cNvSpPr/>
          <p:nvPr/>
        </p:nvSpPr>
        <p:spPr>
          <a:xfrm>
            <a:off x="7223760" y="3255264"/>
            <a:ext cx="82296" cy="84124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Número índice 3"/>
          <p:cNvSpPr/>
          <p:nvPr/>
        </p:nvSpPr>
        <p:spPr>
          <a:xfrm>
            <a:off x="7498079" y="3410712"/>
            <a:ext cx="530352" cy="530352"/>
          </a:xfrm>
          <a:prstGeom prst="ellipse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700" b="1" i="0">
                <a:solidFill>
                  <a:srgbClr val="D97706"/>
                </a:solidFill>
                <a:latin typeface="Arial"/>
              </a:rPr>
              <a:t>3</a:t>
            </a:r>
          </a:p>
        </p:txBody>
      </p:sp>
      <p:sp>
        <p:nvSpPr>
          <p:cNvPr id="31" name="Título índice 3"/>
          <p:cNvSpPr txBox="1"/>
          <p:nvPr/>
        </p:nvSpPr>
        <p:spPr>
          <a:xfrm>
            <a:off x="8229600" y="3383280"/>
            <a:ext cx="3200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2A44"/>
                </a:solidFill>
                <a:latin typeface="Arial"/>
              </a:rPr>
              <a:t>Biblioteca</a:t>
            </a:r>
          </a:p>
        </p:txBody>
      </p:sp>
      <p:sp>
        <p:nvSpPr>
          <p:cNvPr id="32" name="Descripción índice 3"/>
          <p:cNvSpPr txBox="1"/>
          <p:nvPr/>
        </p:nvSpPr>
        <p:spPr>
          <a:xfrm>
            <a:off x="8229600" y="3712464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6B7280"/>
                </a:solidFill>
                <a:latin typeface="Arial"/>
              </a:rPr>
              <a:t>Objeto como parámetro</a:t>
            </a:r>
          </a:p>
        </p:txBody>
      </p:sp>
      <p:sp>
        <p:nvSpPr>
          <p:cNvPr id="33" name="Índice 4"/>
          <p:cNvSpPr/>
          <p:nvPr/>
        </p:nvSpPr>
        <p:spPr>
          <a:xfrm>
            <a:off x="7223760" y="4242816"/>
            <a:ext cx="4325112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anja índice 4"/>
          <p:cNvSpPr/>
          <p:nvPr/>
        </p:nvSpPr>
        <p:spPr>
          <a:xfrm>
            <a:off x="7223760" y="4242816"/>
            <a:ext cx="82296" cy="8412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Número índice 4"/>
          <p:cNvSpPr/>
          <p:nvPr/>
        </p:nvSpPr>
        <p:spPr>
          <a:xfrm>
            <a:off x="7498079" y="4398264"/>
            <a:ext cx="530352" cy="530352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700" b="1" i="0">
                <a:solidFill>
                  <a:srgbClr val="7C3AED"/>
                </a:solidFill>
                <a:latin typeface="Arial"/>
              </a:rPr>
              <a:t>4</a:t>
            </a:r>
          </a:p>
        </p:txBody>
      </p:sp>
      <p:sp>
        <p:nvSpPr>
          <p:cNvPr id="36" name="Título índice 4"/>
          <p:cNvSpPr txBox="1"/>
          <p:nvPr/>
        </p:nvSpPr>
        <p:spPr>
          <a:xfrm>
            <a:off x="8229600" y="4370832"/>
            <a:ext cx="3200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2A44"/>
                </a:solidFill>
                <a:latin typeface="Arial"/>
              </a:rPr>
              <a:t>Tienda en línea</a:t>
            </a:r>
          </a:p>
        </p:txBody>
      </p:sp>
      <p:sp>
        <p:nvSpPr>
          <p:cNvPr id="37" name="Descripción índice 4"/>
          <p:cNvSpPr txBox="1"/>
          <p:nvPr/>
        </p:nvSpPr>
        <p:spPr>
          <a:xfrm>
            <a:off x="8229600" y="4700016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6B7280"/>
                </a:solidFill>
                <a:latin typeface="Arial"/>
              </a:rPr>
              <a:t>Acumular y retornar valores</a:t>
            </a:r>
          </a:p>
        </p:txBody>
      </p:sp>
      <p:sp>
        <p:nvSpPr>
          <p:cNvPr id="38" name="Índice 5"/>
          <p:cNvSpPr/>
          <p:nvPr/>
        </p:nvSpPr>
        <p:spPr>
          <a:xfrm>
            <a:off x="7223760" y="5230368"/>
            <a:ext cx="4325112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anja índice 5"/>
          <p:cNvSpPr/>
          <p:nvPr/>
        </p:nvSpPr>
        <p:spPr>
          <a:xfrm>
            <a:off x="7223760" y="5230368"/>
            <a:ext cx="82296" cy="84124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Número índice 5"/>
          <p:cNvSpPr/>
          <p:nvPr/>
        </p:nvSpPr>
        <p:spPr>
          <a:xfrm>
            <a:off x="7498079" y="5385816"/>
            <a:ext cx="530352" cy="530352"/>
          </a:xfrm>
          <a:prstGeom prst="ellipse">
            <a:avLst/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700" b="1" i="0">
                <a:solidFill>
                  <a:srgbClr val="DC2626"/>
                </a:solidFill>
                <a:latin typeface="Arial"/>
              </a:rPr>
              <a:t>5</a:t>
            </a:r>
          </a:p>
        </p:txBody>
      </p:sp>
      <p:sp>
        <p:nvSpPr>
          <p:cNvPr id="41" name="Título índice 5"/>
          <p:cNvSpPr txBox="1"/>
          <p:nvPr/>
        </p:nvSpPr>
        <p:spPr>
          <a:xfrm>
            <a:off x="8229600" y="5358384"/>
            <a:ext cx="3200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2A44"/>
                </a:solidFill>
                <a:latin typeface="Arial"/>
              </a:rPr>
              <a:t>Reto integrador: Banco</a:t>
            </a:r>
          </a:p>
        </p:txBody>
      </p:sp>
      <p:sp>
        <p:nvSpPr>
          <p:cNvPr id="42" name="Descripción índice 5"/>
          <p:cNvSpPr txBox="1"/>
          <p:nvPr/>
        </p:nvSpPr>
        <p:spPr>
          <a:xfrm>
            <a:off x="8229600" y="568756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6B7280"/>
                </a:solidFill>
                <a:latin typeface="Arial"/>
              </a:rPr>
              <a:t>Todo junto: transferencias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rra lateral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Etiqueta sección"/>
          <p:cNvSpPr txBox="1"/>
          <p:nvPr/>
        </p:nvSpPr>
        <p:spPr>
          <a:xfrm>
            <a:off x="64008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  <a:latin typeface="Arial"/>
              </a:rPr>
              <a:t>TALLER GRUPAL · EJERCICIO 1 DE 5</a:t>
            </a:r>
          </a:p>
        </p:txBody>
      </p:sp>
      <p:sp>
        <p:nvSpPr>
          <p:cNvPr id="4" name="Título"/>
          <p:cNvSpPr txBox="1"/>
          <p:nvPr/>
        </p:nvSpPr>
        <p:spPr>
          <a:xfrm>
            <a:off x="640080" y="621792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F2A44"/>
                </a:solidFill>
                <a:latin typeface="Arial"/>
              </a:rPr>
              <a:t>Curso y Docente: colaboración por atributo</a:t>
            </a:r>
          </a:p>
        </p:txBody>
      </p:sp>
      <p:sp>
        <p:nvSpPr>
          <p:cNvPr id="5" name="Subrayado título"/>
          <p:cNvSpPr/>
          <p:nvPr/>
        </p:nvSpPr>
        <p:spPr>
          <a:xfrm>
            <a:off x="640080" y="1280160"/>
            <a:ext cx="822960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"/>
          <p:cNvSpPr txBox="1"/>
          <p:nvPr/>
        </p:nvSpPr>
        <p:spPr>
          <a:xfrm>
            <a:off x="64008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Arial"/>
              </a:rPr>
              <a:t>Algoritmos y Lógica de Programación · Clase 1 · Cierre APE 4</a:t>
            </a:r>
          </a:p>
        </p:txBody>
      </p:sp>
      <p:sp>
        <p:nvSpPr>
          <p:cNvPr id="7" name="Número de diapositiva"/>
          <p:cNvSpPr txBox="1"/>
          <p:nvPr/>
        </p:nvSpPr>
        <p:spPr>
          <a:xfrm>
            <a:off x="10881360" y="6446520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Arial"/>
              </a:rPr>
              <a:t>2</a:t>
            </a:r>
          </a:p>
        </p:txBody>
      </p:sp>
      <p:sp>
        <p:nvSpPr>
          <p:cNvPr id="8" name="Enunciado"/>
          <p:cNvSpPr/>
          <p:nvPr/>
        </p:nvSpPr>
        <p:spPr>
          <a:xfrm>
            <a:off x="640080" y="1554480"/>
            <a:ext cx="10908792" cy="1005840"/>
          </a:xfrm>
          <a:prstGeom prst="roundRect">
            <a:avLst>
              <a:gd name="adj" fmla="val 8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 bIns="320040"/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93C5FD"/>
                </a:solidFill>
                <a:latin typeface="Arial"/>
              </a:rPr>
              <a:t>ESCENARIO</a:t>
            </a:r>
          </a:p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Un instituto necesita registrar sus cursos y el docente que dicta cada uno. Modelen las clases Curso y Docente.</a:t>
            </a:r>
          </a:p>
        </p:txBody>
      </p:sp>
      <p:sp>
        <p:nvSpPr>
          <p:cNvPr id="9" name="Franja enunciado"/>
          <p:cNvSpPr/>
          <p:nvPr/>
        </p:nvSpPr>
        <p:spPr>
          <a:xfrm>
            <a:off x="640080" y="1664207"/>
            <a:ext cx="82296" cy="78638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tiqueta clases"/>
          <p:cNvSpPr txBox="1"/>
          <p:nvPr/>
        </p:nvSpPr>
        <p:spPr>
          <a:xfrm>
            <a:off x="640080" y="2743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6B7280"/>
                </a:solidFill>
                <a:latin typeface="Arial"/>
              </a:rPr>
              <a:t>CLASES SUGERIDAS</a:t>
            </a:r>
          </a:p>
        </p:txBody>
      </p:sp>
      <p:sp>
        <p:nvSpPr>
          <p:cNvPr id="11" name="Etiqueta requisitos"/>
          <p:cNvSpPr txBox="1"/>
          <p:nvPr/>
        </p:nvSpPr>
        <p:spPr>
          <a:xfrm>
            <a:off x="6766560" y="27432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6B7280"/>
                </a:solidFill>
                <a:latin typeface="Arial"/>
              </a:rPr>
              <a:t>REQUISITOS</a:t>
            </a:r>
          </a:p>
        </p:txBody>
      </p:sp>
      <p:sp>
        <p:nvSpPr>
          <p:cNvPr id="12" name="Clase Curso"/>
          <p:cNvSpPr/>
          <p:nvPr/>
        </p:nvSpPr>
        <p:spPr>
          <a:xfrm>
            <a:off x="640080" y="3063240"/>
            <a:ext cx="2651760" cy="160020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lase Curso encabezado"/>
          <p:cNvSpPr/>
          <p:nvPr/>
        </p:nvSpPr>
        <p:spPr>
          <a:xfrm>
            <a:off x="640080" y="3063240"/>
            <a:ext cx="2651760" cy="3657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Curso</a:t>
            </a:r>
          </a:p>
        </p:txBody>
      </p:sp>
      <p:sp>
        <p:nvSpPr>
          <p:cNvPr id="14" name="Clase Curso miembros"/>
          <p:cNvSpPr txBox="1"/>
          <p:nvPr/>
        </p:nvSpPr>
        <p:spPr>
          <a:xfrm>
            <a:off x="777240" y="3538728"/>
            <a:ext cx="2377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11827"/>
                </a:solidFill>
                <a:latin typeface="Consolas"/>
              </a:rPr>
              <a:t>- String nombre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11827"/>
                </a:solidFill>
                <a:latin typeface="Consolas"/>
              </a:rPr>
              <a:t>- Docente docente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11827"/>
                </a:solidFill>
                <a:latin typeface="Consolas"/>
              </a:rPr>
              <a:t>String obtenerResumen()</a:t>
            </a:r>
          </a:p>
        </p:txBody>
      </p:sp>
      <p:sp>
        <p:nvSpPr>
          <p:cNvPr id="15" name="Clase Docente"/>
          <p:cNvSpPr/>
          <p:nvPr/>
        </p:nvSpPr>
        <p:spPr>
          <a:xfrm>
            <a:off x="3840480" y="3063240"/>
            <a:ext cx="2651760" cy="1600200"/>
          </a:xfrm>
          <a:prstGeom prst="rect">
            <a:avLst/>
          </a:prstGeom>
          <a:solidFill>
            <a:srgbClr val="FFFFFF"/>
          </a:solidFill>
          <a:ln w="254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lase Docente encabezado"/>
          <p:cNvSpPr/>
          <p:nvPr/>
        </p:nvSpPr>
        <p:spPr>
          <a:xfrm>
            <a:off x="3840480" y="3063240"/>
            <a:ext cx="2651760" cy="36576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Docente</a:t>
            </a:r>
          </a:p>
        </p:txBody>
      </p:sp>
      <p:sp>
        <p:nvSpPr>
          <p:cNvPr id="17" name="Clase Docente miembros"/>
          <p:cNvSpPr txBox="1"/>
          <p:nvPr/>
        </p:nvSpPr>
        <p:spPr>
          <a:xfrm>
            <a:off x="3977640" y="3538728"/>
            <a:ext cx="2377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11827"/>
                </a:solidFill>
                <a:latin typeface="Consolas"/>
              </a:rPr>
              <a:t>- String nombre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11827"/>
                </a:solidFill>
                <a:latin typeface="Consolas"/>
              </a:rPr>
              <a:t>- String especialidad</a:t>
            </a:r>
          </a:p>
        </p:txBody>
      </p:sp>
      <p:cxnSp>
        <p:nvCxnSpPr>
          <p:cNvPr id="18" name="Flecha entre clases"/>
          <p:cNvCxnSpPr>
            <a:stCxn id="12" idx="3"/>
            <a:endCxn id="15" idx="1"/>
          </p:cNvCxnSpPr>
          <p:nvPr/>
        </p:nvCxnSpPr>
        <p:spPr>
          <a:xfrm flipV="1">
            <a:off x="3291840" y="3863340"/>
            <a:ext cx="548640" cy="0"/>
          </a:xfrm>
          <a:prstGeom prst="line">
            <a:avLst/>
          </a:prstGeom>
          <a:ln w="31750">
            <a:solidFill>
              <a:srgbClr val="1F2A4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Nota diagrama"/>
          <p:cNvSpPr txBox="1"/>
          <p:nvPr/>
        </p:nvSpPr>
        <p:spPr>
          <a:xfrm>
            <a:off x="640080" y="4727448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1">
                <a:solidFill>
                  <a:srgbClr val="6B7280"/>
                </a:solidFill>
                <a:latin typeface="Arial"/>
              </a:rPr>
              <a:t>Curso guarda un objeto Docente como atributo (colaboración).</a:t>
            </a:r>
          </a:p>
        </p:txBody>
      </p:sp>
      <p:sp>
        <p:nvSpPr>
          <p:cNvPr id="20" name="Número requisito 1"/>
          <p:cNvSpPr/>
          <p:nvPr/>
        </p:nvSpPr>
        <p:spPr>
          <a:xfrm>
            <a:off x="6766560" y="3099816"/>
            <a:ext cx="329184" cy="329184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 i="0">
                <a:solidFill>
                  <a:srgbClr val="2563EB"/>
                </a:solidFill>
                <a:latin typeface="Arial"/>
              </a:rPr>
              <a:t>1</a:t>
            </a:r>
          </a:p>
        </p:txBody>
      </p:sp>
      <p:sp>
        <p:nvSpPr>
          <p:cNvPr id="21" name="Texto requisito 1"/>
          <p:cNvSpPr txBox="1"/>
          <p:nvPr/>
        </p:nvSpPr>
        <p:spPr>
          <a:xfrm>
            <a:off x="7269480" y="3063240"/>
            <a:ext cx="4279392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374151"/>
                </a:solidFill>
                <a:latin typeface="Arial"/>
              </a:rPr>
              <a:t>Atributos privados con sus getters y setters en ambas clases.</a:t>
            </a:r>
          </a:p>
        </p:txBody>
      </p:sp>
      <p:sp>
        <p:nvSpPr>
          <p:cNvPr id="22" name="Número requisito 2"/>
          <p:cNvSpPr/>
          <p:nvPr/>
        </p:nvSpPr>
        <p:spPr>
          <a:xfrm>
            <a:off x="6766560" y="3575304"/>
            <a:ext cx="329184" cy="329184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 i="0">
                <a:solidFill>
                  <a:srgbClr val="2563EB"/>
                </a:solidFill>
                <a:latin typeface="Arial"/>
              </a:rPr>
              <a:t>2</a:t>
            </a:r>
          </a:p>
        </p:txBody>
      </p:sp>
      <p:sp>
        <p:nvSpPr>
          <p:cNvPr id="23" name="Texto requisito 2"/>
          <p:cNvSpPr txBox="1"/>
          <p:nvPr/>
        </p:nvSpPr>
        <p:spPr>
          <a:xfrm>
            <a:off x="7269480" y="3538728"/>
            <a:ext cx="4279392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374151"/>
                </a:solidFill>
                <a:latin typeface="Arial"/>
              </a:rPr>
              <a:t>Curso recibe un objeto Docente como atributo.</a:t>
            </a:r>
          </a:p>
        </p:txBody>
      </p:sp>
      <p:sp>
        <p:nvSpPr>
          <p:cNvPr id="24" name="Número requisito 3"/>
          <p:cNvSpPr/>
          <p:nvPr/>
        </p:nvSpPr>
        <p:spPr>
          <a:xfrm>
            <a:off x="6766560" y="4050792"/>
            <a:ext cx="329184" cy="329184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 i="0">
                <a:solidFill>
                  <a:srgbClr val="2563EB"/>
                </a:solidFill>
                <a:latin typeface="Arial"/>
              </a:rPr>
              <a:t>3</a:t>
            </a:r>
          </a:p>
        </p:txBody>
      </p:sp>
      <p:sp>
        <p:nvSpPr>
          <p:cNvPr id="25" name="Texto requisito 3"/>
          <p:cNvSpPr txBox="1"/>
          <p:nvPr/>
        </p:nvSpPr>
        <p:spPr>
          <a:xfrm>
            <a:off x="7269480" y="4014216"/>
            <a:ext cx="4279392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374151"/>
                </a:solidFill>
                <a:latin typeface="Arial"/>
              </a:rPr>
              <a:t>obtenerResumen() retorna un String con el nombre del curso y del docente.</a:t>
            </a:r>
          </a:p>
        </p:txBody>
      </p:sp>
      <p:sp>
        <p:nvSpPr>
          <p:cNvPr id="26" name="Número requisito 4"/>
          <p:cNvSpPr/>
          <p:nvPr/>
        </p:nvSpPr>
        <p:spPr>
          <a:xfrm>
            <a:off x="6766560" y="4526280"/>
            <a:ext cx="329184" cy="329184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 i="0">
                <a:solidFill>
                  <a:srgbClr val="2563EB"/>
                </a:solidFill>
                <a:latin typeface="Arial"/>
              </a:rPr>
              <a:t>4</a:t>
            </a:r>
          </a:p>
        </p:txBody>
      </p:sp>
      <p:sp>
        <p:nvSpPr>
          <p:cNvPr id="27" name="Texto requisito 4"/>
          <p:cNvSpPr txBox="1"/>
          <p:nvPr/>
        </p:nvSpPr>
        <p:spPr>
          <a:xfrm>
            <a:off x="7269480" y="4489704"/>
            <a:ext cx="4279392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374151"/>
                </a:solidFill>
                <a:latin typeface="Arial"/>
              </a:rPr>
              <a:t>En main, crear 2 cursos con el mismo Docente y mostrar sus resúmenes.</a:t>
            </a:r>
          </a:p>
        </p:txBody>
      </p:sp>
      <p:sp>
        <p:nvSpPr>
          <p:cNvPr id="28" name="Salida esperada"/>
          <p:cNvSpPr/>
          <p:nvPr/>
        </p:nvSpPr>
        <p:spPr>
          <a:xfrm>
            <a:off x="640080" y="5166360"/>
            <a:ext cx="6583680" cy="114300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Salida esperada barra"/>
          <p:cNvSpPr/>
          <p:nvPr/>
        </p:nvSpPr>
        <p:spPr>
          <a:xfrm>
            <a:off x="640080" y="5166360"/>
            <a:ext cx="6583680" cy="310896"/>
          </a:xfrm>
          <a:prstGeom prst="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Botón ventana"/>
          <p:cNvSpPr/>
          <p:nvPr/>
        </p:nvSpPr>
        <p:spPr>
          <a:xfrm>
            <a:off x="777240" y="5266944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Botón ventana"/>
          <p:cNvSpPr/>
          <p:nvPr/>
        </p:nvSpPr>
        <p:spPr>
          <a:xfrm>
            <a:off x="978408" y="5266944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Botón ventana"/>
          <p:cNvSpPr/>
          <p:nvPr/>
        </p:nvSpPr>
        <p:spPr>
          <a:xfrm>
            <a:off x="1179576" y="5266944"/>
            <a:ext cx="109728" cy="109728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Salida esperada archivo"/>
          <p:cNvSpPr txBox="1"/>
          <p:nvPr/>
        </p:nvSpPr>
        <p:spPr>
          <a:xfrm>
            <a:off x="1463040" y="5221224"/>
            <a:ext cx="5577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Consolas"/>
              </a:rPr>
              <a:t>Salida esperada en consola</a:t>
            </a:r>
          </a:p>
        </p:txBody>
      </p:sp>
      <p:sp>
        <p:nvSpPr>
          <p:cNvPr id="34" name="Salida esperada texto"/>
          <p:cNvSpPr txBox="1"/>
          <p:nvPr/>
        </p:nvSpPr>
        <p:spPr>
          <a:xfrm>
            <a:off x="804671" y="5568696"/>
            <a:ext cx="6309360" cy="69494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>
                <a:solidFill>
                  <a:srgbClr val="D4D4D4"/>
                </a:solidFill>
                <a:latin typeface="Consolas"/>
              </a:rPr>
              <a:t>Curso</a:t>
            </a:r>
            <a:r>
              <a:rPr sz="1100">
                <a:solidFill>
                  <a:srgbClr val="D4D4D4"/>
                </a:solidFill>
                <a:latin typeface="Consolas"/>
              </a:rPr>
              <a:t>:</a:t>
            </a: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  <a:r>
              <a:rPr sz="1100">
                <a:solidFill>
                  <a:srgbClr val="D4D4D4"/>
                </a:solidFill>
                <a:latin typeface="Consolas"/>
              </a:rPr>
              <a:t>Algoritmos</a:t>
            </a: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  <a:r>
              <a:rPr sz="1100">
                <a:solidFill>
                  <a:srgbClr val="D4D4D4"/>
                </a:solidFill>
                <a:latin typeface="Consolas"/>
              </a:rPr>
              <a:t>|</a:t>
            </a: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  <a:r>
              <a:rPr sz="1100">
                <a:solidFill>
                  <a:srgbClr val="D4D4D4"/>
                </a:solidFill>
                <a:latin typeface="Consolas"/>
              </a:rPr>
              <a:t>Docente</a:t>
            </a:r>
            <a:r>
              <a:rPr sz="1100">
                <a:solidFill>
                  <a:srgbClr val="D4D4D4"/>
                </a:solidFill>
                <a:latin typeface="Consolas"/>
              </a:rPr>
              <a:t>:</a:t>
            </a: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  <a:r>
              <a:rPr sz="1100">
                <a:solidFill>
                  <a:srgbClr val="D4D4D4"/>
                </a:solidFill>
                <a:latin typeface="Consolas"/>
              </a:rPr>
              <a:t>Ana</a:t>
            </a: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  <a:r>
              <a:rPr sz="1100">
                <a:solidFill>
                  <a:srgbClr val="D4D4D4"/>
                </a:solidFill>
                <a:latin typeface="Consolas"/>
              </a:rPr>
              <a:t>Torres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Curso</a:t>
            </a:r>
            <a:r>
              <a:rPr sz="1100">
                <a:solidFill>
                  <a:srgbClr val="D4D4D4"/>
                </a:solidFill>
                <a:latin typeface="Consolas"/>
              </a:rPr>
              <a:t>:</a:t>
            </a: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  <a:r>
              <a:rPr sz="1100">
                <a:solidFill>
                  <a:srgbClr val="D4D4D4"/>
                </a:solidFill>
                <a:latin typeface="Consolas"/>
              </a:rPr>
              <a:t>Programación</a:t>
            </a: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  <a:r>
              <a:rPr sz="1100">
                <a:solidFill>
                  <a:srgbClr val="D4D4D4"/>
                </a:solidFill>
                <a:latin typeface="Consolas"/>
              </a:rPr>
              <a:t>|</a:t>
            </a: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  <a:r>
              <a:rPr sz="1100">
                <a:solidFill>
                  <a:srgbClr val="D4D4D4"/>
                </a:solidFill>
                <a:latin typeface="Consolas"/>
              </a:rPr>
              <a:t>Docente</a:t>
            </a:r>
            <a:r>
              <a:rPr sz="1100">
                <a:solidFill>
                  <a:srgbClr val="D4D4D4"/>
                </a:solidFill>
                <a:latin typeface="Consolas"/>
              </a:rPr>
              <a:t>:</a:t>
            </a: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  <a:r>
              <a:rPr sz="1100">
                <a:solidFill>
                  <a:srgbClr val="D4D4D4"/>
                </a:solidFill>
                <a:latin typeface="Consolas"/>
              </a:rPr>
              <a:t>Ana</a:t>
            </a: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  <a:r>
              <a:rPr sz="1100">
                <a:solidFill>
                  <a:srgbClr val="D4D4D4"/>
                </a:solidFill>
                <a:latin typeface="Consolas"/>
              </a:rPr>
              <a:t>Torres</a:t>
            </a:r>
          </a:p>
        </p:txBody>
      </p:sp>
      <p:sp>
        <p:nvSpPr>
          <p:cNvPr id="35" name="Panel roles"/>
          <p:cNvSpPr/>
          <p:nvPr/>
        </p:nvSpPr>
        <p:spPr>
          <a:xfrm>
            <a:off x="7498079" y="5166360"/>
            <a:ext cx="4050791" cy="114300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ítulo roles"/>
          <p:cNvSpPr txBox="1"/>
          <p:nvPr/>
        </p:nvSpPr>
        <p:spPr>
          <a:xfrm>
            <a:off x="7680960" y="5239512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563EB"/>
                </a:solidFill>
                <a:latin typeface="Arial"/>
              </a:rPr>
              <a:t>REPARTO SUGERIDO DEL EQUIPO</a:t>
            </a:r>
          </a:p>
        </p:txBody>
      </p:sp>
      <p:sp>
        <p:nvSpPr>
          <p:cNvPr id="37" name="Lista roles"/>
          <p:cNvSpPr txBox="1"/>
          <p:nvPr/>
        </p:nvSpPr>
        <p:spPr>
          <a:xfrm>
            <a:off x="7680960" y="5504688"/>
            <a:ext cx="37490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374151"/>
                </a:solidFill>
                <a:latin typeface="Arial"/>
              </a:rPr>
              <a:t>1 · Define las clases y atributos</a:t>
            </a:r>
          </a:p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374151"/>
                </a:solidFill>
                <a:latin typeface="Arial"/>
              </a:rPr>
              <a:t>2 · Implementa los métodos</a:t>
            </a:r>
          </a:p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374151"/>
                </a:solidFill>
                <a:latin typeface="Arial"/>
              </a:rPr>
              <a:t>3 · Escribe la clase Principal (main)</a:t>
            </a:r>
          </a:p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374151"/>
                </a:solidFill>
                <a:latin typeface="Arial"/>
              </a:rPr>
              <a:t>4 · Prueba y revisa la salida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rra lateral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Etiqueta sección"/>
          <p:cNvSpPr txBox="1"/>
          <p:nvPr/>
        </p:nvSpPr>
        <p:spPr>
          <a:xfrm>
            <a:off x="64008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Arial"/>
              </a:rPr>
              <a:t>TALLER GRUPAL · EJERCICIO 2 DE 5</a:t>
            </a:r>
          </a:p>
        </p:txBody>
      </p:sp>
      <p:sp>
        <p:nvSpPr>
          <p:cNvPr id="4" name="Título"/>
          <p:cNvSpPr txBox="1"/>
          <p:nvPr/>
        </p:nvSpPr>
        <p:spPr>
          <a:xfrm>
            <a:off x="640080" y="621792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F2A44"/>
                </a:solidFill>
                <a:latin typeface="Arial"/>
              </a:rPr>
              <a:t>Calculadora de notas: firmas y retornos</a:t>
            </a:r>
          </a:p>
        </p:txBody>
      </p:sp>
      <p:sp>
        <p:nvSpPr>
          <p:cNvPr id="5" name="Subrayado título"/>
          <p:cNvSpPr/>
          <p:nvPr/>
        </p:nvSpPr>
        <p:spPr>
          <a:xfrm>
            <a:off x="640080" y="1280160"/>
            <a:ext cx="822960" cy="4572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"/>
          <p:cNvSpPr txBox="1"/>
          <p:nvPr/>
        </p:nvSpPr>
        <p:spPr>
          <a:xfrm>
            <a:off x="64008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Arial"/>
              </a:rPr>
              <a:t>Algoritmos y Lógica de Programación · Clase 1 · Cierre APE 4</a:t>
            </a:r>
          </a:p>
        </p:txBody>
      </p:sp>
      <p:sp>
        <p:nvSpPr>
          <p:cNvPr id="7" name="Número de diapositiva"/>
          <p:cNvSpPr txBox="1"/>
          <p:nvPr/>
        </p:nvSpPr>
        <p:spPr>
          <a:xfrm>
            <a:off x="10881360" y="6446520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Arial"/>
              </a:rPr>
              <a:t>3</a:t>
            </a:r>
          </a:p>
        </p:txBody>
      </p:sp>
      <p:sp>
        <p:nvSpPr>
          <p:cNvPr id="8" name="Enunciado"/>
          <p:cNvSpPr/>
          <p:nvPr/>
        </p:nvSpPr>
        <p:spPr>
          <a:xfrm>
            <a:off x="640080" y="1554480"/>
            <a:ext cx="10908792" cy="1005840"/>
          </a:xfrm>
          <a:prstGeom prst="roundRect">
            <a:avLst>
              <a:gd name="adj" fmla="val 8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 bIns="320040"/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93C5FD"/>
                </a:solidFill>
                <a:latin typeface="Arial"/>
              </a:rPr>
              <a:t>ESCENARIO</a:t>
            </a:r>
          </a:p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Un docente quiere calcular el promedio de tres notas y saber si el estudiante aprueba. Implementen la clase Calculadora.</a:t>
            </a:r>
          </a:p>
        </p:txBody>
      </p:sp>
      <p:sp>
        <p:nvSpPr>
          <p:cNvPr id="9" name="Franja enunciado"/>
          <p:cNvSpPr/>
          <p:nvPr/>
        </p:nvSpPr>
        <p:spPr>
          <a:xfrm>
            <a:off x="640080" y="1664207"/>
            <a:ext cx="82296" cy="786384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tiqueta clases"/>
          <p:cNvSpPr txBox="1"/>
          <p:nvPr/>
        </p:nvSpPr>
        <p:spPr>
          <a:xfrm>
            <a:off x="640080" y="2743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6B7280"/>
                </a:solidFill>
                <a:latin typeface="Arial"/>
              </a:rPr>
              <a:t>CLASES SUGERIDAS</a:t>
            </a:r>
          </a:p>
        </p:txBody>
      </p:sp>
      <p:sp>
        <p:nvSpPr>
          <p:cNvPr id="11" name="Etiqueta requisitos"/>
          <p:cNvSpPr txBox="1"/>
          <p:nvPr/>
        </p:nvSpPr>
        <p:spPr>
          <a:xfrm>
            <a:off x="6766560" y="27432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6B7280"/>
                </a:solidFill>
                <a:latin typeface="Arial"/>
              </a:rPr>
              <a:t>REQUISITOS</a:t>
            </a:r>
          </a:p>
        </p:txBody>
      </p:sp>
      <p:sp>
        <p:nvSpPr>
          <p:cNvPr id="12" name="Clase Calculadora"/>
          <p:cNvSpPr/>
          <p:nvPr/>
        </p:nvSpPr>
        <p:spPr>
          <a:xfrm>
            <a:off x="640080" y="3063240"/>
            <a:ext cx="2651760" cy="1600200"/>
          </a:xfrm>
          <a:prstGeom prst="rect">
            <a:avLst/>
          </a:prstGeom>
          <a:solidFill>
            <a:srgbClr val="FFFFFF"/>
          </a:solidFill>
          <a:ln w="254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lase Calculadora encabezado"/>
          <p:cNvSpPr/>
          <p:nvPr/>
        </p:nvSpPr>
        <p:spPr>
          <a:xfrm>
            <a:off x="640080" y="3063240"/>
            <a:ext cx="2651760" cy="36576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Calculadora</a:t>
            </a:r>
          </a:p>
        </p:txBody>
      </p:sp>
      <p:sp>
        <p:nvSpPr>
          <p:cNvPr id="14" name="Clase Calculadora miembros"/>
          <p:cNvSpPr txBox="1"/>
          <p:nvPr/>
        </p:nvSpPr>
        <p:spPr>
          <a:xfrm>
            <a:off x="777240" y="3538728"/>
            <a:ext cx="2377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11827"/>
                </a:solidFill>
                <a:latin typeface="Consolas"/>
              </a:rPr>
              <a:t>double calcularPromedio(...)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11827"/>
                </a:solidFill>
                <a:latin typeface="Consolas"/>
              </a:rPr>
              <a:t>boolean aprobo(double prom)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11827"/>
                </a:solidFill>
                <a:latin typeface="Consolas"/>
              </a:rPr>
              <a:t>String obtenerEstado(double p)</a:t>
            </a:r>
          </a:p>
        </p:txBody>
      </p:sp>
      <p:sp>
        <p:nvSpPr>
          <p:cNvPr id="15" name="Clase Principal"/>
          <p:cNvSpPr/>
          <p:nvPr/>
        </p:nvSpPr>
        <p:spPr>
          <a:xfrm>
            <a:off x="3840480" y="3063240"/>
            <a:ext cx="2651760" cy="1600200"/>
          </a:xfrm>
          <a:prstGeom prst="rect">
            <a:avLst/>
          </a:prstGeom>
          <a:solidFill>
            <a:srgbClr val="FFFFFF"/>
          </a:solidFill>
          <a:ln w="25400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lase Principal encabezado"/>
          <p:cNvSpPr/>
          <p:nvPr/>
        </p:nvSpPr>
        <p:spPr>
          <a:xfrm>
            <a:off x="3840480" y="3063240"/>
            <a:ext cx="2651760" cy="3657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Principal</a:t>
            </a:r>
          </a:p>
        </p:txBody>
      </p:sp>
      <p:sp>
        <p:nvSpPr>
          <p:cNvPr id="17" name="Clase Principal miembros"/>
          <p:cNvSpPr txBox="1"/>
          <p:nvPr/>
        </p:nvSpPr>
        <p:spPr>
          <a:xfrm>
            <a:off x="3977640" y="3538728"/>
            <a:ext cx="2377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11827"/>
                </a:solidFill>
                <a:latin typeface="Consolas"/>
              </a:rPr>
              <a:t>main(String[] args)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11827"/>
                </a:solidFill>
                <a:latin typeface="Consolas"/>
              </a:rPr>
              <a:t>// crea la calculadora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11827"/>
                </a:solidFill>
                <a:latin typeface="Consolas"/>
              </a:rPr>
              <a:t>// prueba con notas</a:t>
            </a:r>
          </a:p>
        </p:txBody>
      </p:sp>
      <p:cxnSp>
        <p:nvCxnSpPr>
          <p:cNvPr id="18" name="Flecha entre clases"/>
          <p:cNvCxnSpPr>
            <a:stCxn id="12" idx="3"/>
            <a:endCxn id="15" idx="1"/>
          </p:cNvCxnSpPr>
          <p:nvPr/>
        </p:nvCxnSpPr>
        <p:spPr>
          <a:xfrm flipV="1">
            <a:off x="3291840" y="3863340"/>
            <a:ext cx="548640" cy="0"/>
          </a:xfrm>
          <a:prstGeom prst="line">
            <a:avLst/>
          </a:prstGeom>
          <a:ln w="31750">
            <a:solidFill>
              <a:srgbClr val="1F2A4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Nota diagrama"/>
          <p:cNvSpPr txBox="1"/>
          <p:nvPr/>
        </p:nvSpPr>
        <p:spPr>
          <a:xfrm>
            <a:off x="640080" y="4727448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1">
                <a:solidFill>
                  <a:srgbClr val="6B7280"/>
                </a:solidFill>
                <a:latin typeface="Arial"/>
              </a:rPr>
              <a:t>Cada método tiene un tipo de retorno distinto: double, boolean y String.</a:t>
            </a:r>
          </a:p>
        </p:txBody>
      </p:sp>
      <p:sp>
        <p:nvSpPr>
          <p:cNvPr id="20" name="Número requisito 1"/>
          <p:cNvSpPr/>
          <p:nvPr/>
        </p:nvSpPr>
        <p:spPr>
          <a:xfrm>
            <a:off x="6766560" y="3099816"/>
            <a:ext cx="329184" cy="329184"/>
          </a:xfrm>
          <a:prstGeom prst="ellipse">
            <a:avLst/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 i="0">
                <a:solidFill>
                  <a:srgbClr val="059669"/>
                </a:solidFill>
                <a:latin typeface="Arial"/>
              </a:rPr>
              <a:t>1</a:t>
            </a:r>
          </a:p>
        </p:txBody>
      </p:sp>
      <p:sp>
        <p:nvSpPr>
          <p:cNvPr id="21" name="Texto requisito 1"/>
          <p:cNvSpPr txBox="1"/>
          <p:nvPr/>
        </p:nvSpPr>
        <p:spPr>
          <a:xfrm>
            <a:off x="7269480" y="3063240"/>
            <a:ext cx="4279392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374151"/>
                </a:solidFill>
                <a:latin typeface="Arial"/>
              </a:rPr>
              <a:t>calcularPromedio recibe tres notas double y retorna un double.</a:t>
            </a:r>
          </a:p>
        </p:txBody>
      </p:sp>
      <p:sp>
        <p:nvSpPr>
          <p:cNvPr id="22" name="Número requisito 2"/>
          <p:cNvSpPr/>
          <p:nvPr/>
        </p:nvSpPr>
        <p:spPr>
          <a:xfrm>
            <a:off x="6766560" y="3575304"/>
            <a:ext cx="329184" cy="329184"/>
          </a:xfrm>
          <a:prstGeom prst="ellipse">
            <a:avLst/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 i="0">
                <a:solidFill>
                  <a:srgbClr val="059669"/>
                </a:solidFill>
                <a:latin typeface="Arial"/>
              </a:rPr>
              <a:t>2</a:t>
            </a:r>
          </a:p>
        </p:txBody>
      </p:sp>
      <p:sp>
        <p:nvSpPr>
          <p:cNvPr id="23" name="Texto requisito 2"/>
          <p:cNvSpPr txBox="1"/>
          <p:nvPr/>
        </p:nvSpPr>
        <p:spPr>
          <a:xfrm>
            <a:off x="7269480" y="3538728"/>
            <a:ext cx="4279392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374151"/>
                </a:solidFill>
                <a:latin typeface="Arial"/>
              </a:rPr>
              <a:t>aprobo recibe el promedio y retorna true si es 7.0 o más.</a:t>
            </a:r>
          </a:p>
        </p:txBody>
      </p:sp>
      <p:sp>
        <p:nvSpPr>
          <p:cNvPr id="24" name="Número requisito 3"/>
          <p:cNvSpPr/>
          <p:nvPr/>
        </p:nvSpPr>
        <p:spPr>
          <a:xfrm>
            <a:off x="6766560" y="4050792"/>
            <a:ext cx="329184" cy="329184"/>
          </a:xfrm>
          <a:prstGeom prst="ellipse">
            <a:avLst/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 i="0">
                <a:solidFill>
                  <a:srgbClr val="059669"/>
                </a:solidFill>
                <a:latin typeface="Arial"/>
              </a:rPr>
              <a:t>3</a:t>
            </a:r>
          </a:p>
        </p:txBody>
      </p:sp>
      <p:sp>
        <p:nvSpPr>
          <p:cNvPr id="25" name="Texto requisito 3"/>
          <p:cNvSpPr txBox="1"/>
          <p:nvPr/>
        </p:nvSpPr>
        <p:spPr>
          <a:xfrm>
            <a:off x="7269480" y="4014216"/>
            <a:ext cx="4279392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374151"/>
                </a:solidFill>
                <a:latin typeface="Arial"/>
              </a:rPr>
              <a:t>obtenerEstado retorna Aprobado o Reprobado usando aprobo.</a:t>
            </a:r>
          </a:p>
        </p:txBody>
      </p:sp>
      <p:sp>
        <p:nvSpPr>
          <p:cNvPr id="26" name="Número requisito 4"/>
          <p:cNvSpPr/>
          <p:nvPr/>
        </p:nvSpPr>
        <p:spPr>
          <a:xfrm>
            <a:off x="6766560" y="4526280"/>
            <a:ext cx="329184" cy="329184"/>
          </a:xfrm>
          <a:prstGeom prst="ellipse">
            <a:avLst/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 i="0">
                <a:solidFill>
                  <a:srgbClr val="059669"/>
                </a:solidFill>
                <a:latin typeface="Arial"/>
              </a:rPr>
              <a:t>4</a:t>
            </a:r>
          </a:p>
        </p:txBody>
      </p:sp>
      <p:sp>
        <p:nvSpPr>
          <p:cNvPr id="27" name="Texto requisito 4"/>
          <p:cNvSpPr txBox="1"/>
          <p:nvPr/>
        </p:nvSpPr>
        <p:spPr>
          <a:xfrm>
            <a:off x="7269480" y="4489704"/>
            <a:ext cx="4279392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374151"/>
                </a:solidFill>
                <a:latin typeface="Arial"/>
              </a:rPr>
              <a:t>En main, probar con al menos dos conjuntos de notas.</a:t>
            </a:r>
          </a:p>
        </p:txBody>
      </p:sp>
      <p:sp>
        <p:nvSpPr>
          <p:cNvPr id="28" name="Salida esperada"/>
          <p:cNvSpPr/>
          <p:nvPr/>
        </p:nvSpPr>
        <p:spPr>
          <a:xfrm>
            <a:off x="640080" y="5166360"/>
            <a:ext cx="6583680" cy="114300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Salida esperada barra"/>
          <p:cNvSpPr/>
          <p:nvPr/>
        </p:nvSpPr>
        <p:spPr>
          <a:xfrm>
            <a:off x="640080" y="5166360"/>
            <a:ext cx="6583680" cy="310896"/>
          </a:xfrm>
          <a:prstGeom prst="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Botón ventana"/>
          <p:cNvSpPr/>
          <p:nvPr/>
        </p:nvSpPr>
        <p:spPr>
          <a:xfrm>
            <a:off x="777240" y="5266944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Botón ventana"/>
          <p:cNvSpPr/>
          <p:nvPr/>
        </p:nvSpPr>
        <p:spPr>
          <a:xfrm>
            <a:off x="978408" y="5266944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Botón ventana"/>
          <p:cNvSpPr/>
          <p:nvPr/>
        </p:nvSpPr>
        <p:spPr>
          <a:xfrm>
            <a:off x="1179576" y="5266944"/>
            <a:ext cx="109728" cy="109728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Salida esperada archivo"/>
          <p:cNvSpPr txBox="1"/>
          <p:nvPr/>
        </p:nvSpPr>
        <p:spPr>
          <a:xfrm>
            <a:off x="1463040" y="5221224"/>
            <a:ext cx="5577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Consolas"/>
              </a:rPr>
              <a:t>Salida esperada en consola</a:t>
            </a:r>
          </a:p>
        </p:txBody>
      </p:sp>
      <p:sp>
        <p:nvSpPr>
          <p:cNvPr id="34" name="Salida esperada texto"/>
          <p:cNvSpPr txBox="1"/>
          <p:nvPr/>
        </p:nvSpPr>
        <p:spPr>
          <a:xfrm>
            <a:off x="804671" y="5568696"/>
            <a:ext cx="6309360" cy="69494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>
                <a:solidFill>
                  <a:srgbClr val="D4D4D4"/>
                </a:solidFill>
                <a:latin typeface="Consolas"/>
              </a:rPr>
              <a:t>Promedio</a:t>
            </a:r>
            <a:r>
              <a:rPr sz="1100">
                <a:solidFill>
                  <a:srgbClr val="D4D4D4"/>
                </a:solidFill>
                <a:latin typeface="Consolas"/>
              </a:rPr>
              <a:t>:</a:t>
            </a: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  <a:r>
              <a:rPr sz="1100">
                <a:solidFill>
                  <a:srgbClr val="D4D4D4"/>
                </a:solidFill>
                <a:latin typeface="Consolas"/>
              </a:rPr>
              <a:t>8</a:t>
            </a:r>
            <a:r>
              <a:rPr sz="1100">
                <a:solidFill>
                  <a:srgbClr val="D4D4D4"/>
                </a:solidFill>
                <a:latin typeface="Consolas"/>
              </a:rPr>
              <a:t>.</a:t>
            </a:r>
            <a:r>
              <a:rPr sz="1100">
                <a:solidFill>
                  <a:srgbClr val="D4D4D4"/>
                </a:solidFill>
                <a:latin typeface="Consolas"/>
              </a:rPr>
              <a:t>5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Estado</a:t>
            </a:r>
            <a:r>
              <a:rPr sz="1100">
                <a:solidFill>
                  <a:srgbClr val="D4D4D4"/>
                </a:solidFill>
                <a:latin typeface="Consolas"/>
              </a:rPr>
              <a:t>:</a:t>
            </a: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  <a:r>
              <a:rPr sz="1100">
                <a:solidFill>
                  <a:srgbClr val="D4D4D4"/>
                </a:solidFill>
                <a:latin typeface="Consolas"/>
              </a:rPr>
              <a:t>Aprobado</a:t>
            </a:r>
          </a:p>
        </p:txBody>
      </p:sp>
      <p:sp>
        <p:nvSpPr>
          <p:cNvPr id="35" name="Panel roles"/>
          <p:cNvSpPr/>
          <p:nvPr/>
        </p:nvSpPr>
        <p:spPr>
          <a:xfrm>
            <a:off x="7498079" y="5166360"/>
            <a:ext cx="4050791" cy="114300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ítulo roles"/>
          <p:cNvSpPr txBox="1"/>
          <p:nvPr/>
        </p:nvSpPr>
        <p:spPr>
          <a:xfrm>
            <a:off x="7680960" y="5239512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59669"/>
                </a:solidFill>
                <a:latin typeface="Arial"/>
              </a:rPr>
              <a:t>REPARTO SUGERIDO DEL EQUIPO</a:t>
            </a:r>
          </a:p>
        </p:txBody>
      </p:sp>
      <p:sp>
        <p:nvSpPr>
          <p:cNvPr id="37" name="Lista roles"/>
          <p:cNvSpPr txBox="1"/>
          <p:nvPr/>
        </p:nvSpPr>
        <p:spPr>
          <a:xfrm>
            <a:off x="7680960" y="5504688"/>
            <a:ext cx="37490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374151"/>
                </a:solidFill>
                <a:latin typeface="Arial"/>
              </a:rPr>
              <a:t>1 · Define las clases y atributos</a:t>
            </a:r>
          </a:p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374151"/>
                </a:solidFill>
                <a:latin typeface="Arial"/>
              </a:rPr>
              <a:t>2 · Implementa los métodos</a:t>
            </a:r>
          </a:p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374151"/>
                </a:solidFill>
                <a:latin typeface="Arial"/>
              </a:rPr>
              <a:t>3 · Escribe la clase Principal (main)</a:t>
            </a:r>
          </a:p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374151"/>
                </a:solidFill>
                <a:latin typeface="Arial"/>
              </a:rPr>
              <a:t>4 · Prueba y revisa la salida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rra lateral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Etiqueta sección"/>
          <p:cNvSpPr txBox="1"/>
          <p:nvPr/>
        </p:nvSpPr>
        <p:spPr>
          <a:xfrm>
            <a:off x="64008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  <a:latin typeface="Arial"/>
              </a:rPr>
              <a:t>TALLER GRUPAL · EJERCICIO 3 DE 5</a:t>
            </a:r>
          </a:p>
        </p:txBody>
      </p:sp>
      <p:sp>
        <p:nvSpPr>
          <p:cNvPr id="4" name="Título"/>
          <p:cNvSpPr txBox="1"/>
          <p:nvPr/>
        </p:nvSpPr>
        <p:spPr>
          <a:xfrm>
            <a:off x="640080" y="621792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F2A44"/>
                </a:solidFill>
                <a:latin typeface="Arial"/>
              </a:rPr>
              <a:t>Biblioteca: Libro y Préstamo</a:t>
            </a:r>
          </a:p>
        </p:txBody>
      </p:sp>
      <p:sp>
        <p:nvSpPr>
          <p:cNvPr id="5" name="Subrayado título"/>
          <p:cNvSpPr/>
          <p:nvPr/>
        </p:nvSpPr>
        <p:spPr>
          <a:xfrm>
            <a:off x="640080" y="1280160"/>
            <a:ext cx="822960" cy="457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"/>
          <p:cNvSpPr txBox="1"/>
          <p:nvPr/>
        </p:nvSpPr>
        <p:spPr>
          <a:xfrm>
            <a:off x="64008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Arial"/>
              </a:rPr>
              <a:t>Algoritmos y Lógica de Programación · Clase 1 · Cierre APE 4</a:t>
            </a:r>
          </a:p>
        </p:txBody>
      </p:sp>
      <p:sp>
        <p:nvSpPr>
          <p:cNvPr id="7" name="Número de diapositiva"/>
          <p:cNvSpPr txBox="1"/>
          <p:nvPr/>
        </p:nvSpPr>
        <p:spPr>
          <a:xfrm>
            <a:off x="10881360" y="6446520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Arial"/>
              </a:rPr>
              <a:t>4</a:t>
            </a:r>
          </a:p>
        </p:txBody>
      </p:sp>
      <p:sp>
        <p:nvSpPr>
          <p:cNvPr id="8" name="Enunciado"/>
          <p:cNvSpPr/>
          <p:nvPr/>
        </p:nvSpPr>
        <p:spPr>
          <a:xfrm>
            <a:off x="640080" y="1554480"/>
            <a:ext cx="10908792" cy="1005840"/>
          </a:xfrm>
          <a:prstGeom prst="roundRect">
            <a:avLst>
              <a:gd name="adj" fmla="val 8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 bIns="320040"/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93C5FD"/>
                </a:solidFill>
                <a:latin typeface="Arial"/>
              </a:rPr>
              <a:t>ESCENARIO</a:t>
            </a:r>
          </a:p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Una biblioteca presta libros. Un préstamo solo puede registrarse si el libro está disponible.</a:t>
            </a:r>
          </a:p>
        </p:txBody>
      </p:sp>
      <p:sp>
        <p:nvSpPr>
          <p:cNvPr id="9" name="Franja enunciado"/>
          <p:cNvSpPr/>
          <p:nvPr/>
        </p:nvSpPr>
        <p:spPr>
          <a:xfrm>
            <a:off x="640080" y="1664207"/>
            <a:ext cx="82296" cy="78638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tiqueta clases"/>
          <p:cNvSpPr txBox="1"/>
          <p:nvPr/>
        </p:nvSpPr>
        <p:spPr>
          <a:xfrm>
            <a:off x="640080" y="2743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6B7280"/>
                </a:solidFill>
                <a:latin typeface="Arial"/>
              </a:rPr>
              <a:t>CLASES SUGERIDAS</a:t>
            </a:r>
          </a:p>
        </p:txBody>
      </p:sp>
      <p:sp>
        <p:nvSpPr>
          <p:cNvPr id="11" name="Etiqueta requisitos"/>
          <p:cNvSpPr txBox="1"/>
          <p:nvPr/>
        </p:nvSpPr>
        <p:spPr>
          <a:xfrm>
            <a:off x="6766560" y="27432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6B7280"/>
                </a:solidFill>
                <a:latin typeface="Arial"/>
              </a:rPr>
              <a:t>REQUISITOS</a:t>
            </a:r>
          </a:p>
        </p:txBody>
      </p:sp>
      <p:sp>
        <p:nvSpPr>
          <p:cNvPr id="12" name="Clase Prestamo"/>
          <p:cNvSpPr/>
          <p:nvPr/>
        </p:nvSpPr>
        <p:spPr>
          <a:xfrm>
            <a:off x="640080" y="3063240"/>
            <a:ext cx="2651760" cy="1600200"/>
          </a:xfrm>
          <a:prstGeom prst="rect">
            <a:avLst/>
          </a:prstGeom>
          <a:solidFill>
            <a:srgbClr val="FFFFFF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lase Prestamo encabezado"/>
          <p:cNvSpPr/>
          <p:nvPr/>
        </p:nvSpPr>
        <p:spPr>
          <a:xfrm>
            <a:off x="640080" y="3063240"/>
            <a:ext cx="2651760" cy="36576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Prestamo</a:t>
            </a:r>
          </a:p>
        </p:txBody>
      </p:sp>
      <p:sp>
        <p:nvSpPr>
          <p:cNvPr id="14" name="Clase Prestamo miembros"/>
          <p:cNvSpPr txBox="1"/>
          <p:nvPr/>
        </p:nvSpPr>
        <p:spPr>
          <a:xfrm>
            <a:off x="777240" y="3538728"/>
            <a:ext cx="2377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11827"/>
                </a:solidFill>
                <a:latin typeface="Consolas"/>
              </a:rPr>
              <a:t>- String estudiante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11827"/>
                </a:solidFill>
                <a:latin typeface="Consolas"/>
              </a:rPr>
              <a:t>boolean registrar(Libro l)</a:t>
            </a:r>
          </a:p>
        </p:txBody>
      </p:sp>
      <p:sp>
        <p:nvSpPr>
          <p:cNvPr id="15" name="Clase Libro"/>
          <p:cNvSpPr/>
          <p:nvPr/>
        </p:nvSpPr>
        <p:spPr>
          <a:xfrm>
            <a:off x="3840480" y="3063240"/>
            <a:ext cx="2651760" cy="160020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lase Libro encabezado"/>
          <p:cNvSpPr/>
          <p:nvPr/>
        </p:nvSpPr>
        <p:spPr>
          <a:xfrm>
            <a:off x="3840480" y="3063240"/>
            <a:ext cx="2651760" cy="3657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Libro</a:t>
            </a:r>
          </a:p>
        </p:txBody>
      </p:sp>
      <p:sp>
        <p:nvSpPr>
          <p:cNvPr id="17" name="Clase Libro miembros"/>
          <p:cNvSpPr txBox="1"/>
          <p:nvPr/>
        </p:nvSpPr>
        <p:spPr>
          <a:xfrm>
            <a:off x="3977640" y="3538728"/>
            <a:ext cx="2377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11827"/>
                </a:solidFill>
                <a:latin typeface="Consolas"/>
              </a:rPr>
              <a:t>- String titulo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11827"/>
                </a:solidFill>
                <a:latin typeface="Consolas"/>
              </a:rPr>
              <a:t>- boolean disponible</a:t>
            </a:r>
          </a:p>
        </p:txBody>
      </p:sp>
      <p:cxnSp>
        <p:nvCxnSpPr>
          <p:cNvPr id="18" name="Flecha entre clases"/>
          <p:cNvCxnSpPr>
            <a:stCxn id="12" idx="3"/>
            <a:endCxn id="15" idx="1"/>
          </p:cNvCxnSpPr>
          <p:nvPr/>
        </p:nvCxnSpPr>
        <p:spPr>
          <a:xfrm flipV="1">
            <a:off x="3291840" y="3863340"/>
            <a:ext cx="548640" cy="0"/>
          </a:xfrm>
          <a:prstGeom prst="line">
            <a:avLst/>
          </a:prstGeom>
          <a:ln w="31750">
            <a:solidFill>
              <a:srgbClr val="1F2A4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Nota diagrama"/>
          <p:cNvSpPr txBox="1"/>
          <p:nvPr/>
        </p:nvSpPr>
        <p:spPr>
          <a:xfrm>
            <a:off x="640080" y="4727448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1">
                <a:solidFill>
                  <a:srgbClr val="6B7280"/>
                </a:solidFill>
                <a:latin typeface="Arial"/>
              </a:rPr>
              <a:t>Prestamo recibe el objeto Libro como parámetro y modifica su estado.</a:t>
            </a:r>
          </a:p>
        </p:txBody>
      </p:sp>
      <p:sp>
        <p:nvSpPr>
          <p:cNvPr id="20" name="Número requisito 1"/>
          <p:cNvSpPr/>
          <p:nvPr/>
        </p:nvSpPr>
        <p:spPr>
          <a:xfrm>
            <a:off x="6766560" y="3099816"/>
            <a:ext cx="329184" cy="329184"/>
          </a:xfrm>
          <a:prstGeom prst="ellipse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 i="0">
                <a:solidFill>
                  <a:srgbClr val="D97706"/>
                </a:solidFill>
                <a:latin typeface="Arial"/>
              </a:rPr>
              <a:t>1</a:t>
            </a:r>
          </a:p>
        </p:txBody>
      </p:sp>
      <p:sp>
        <p:nvSpPr>
          <p:cNvPr id="21" name="Texto requisito 1"/>
          <p:cNvSpPr txBox="1"/>
          <p:nvPr/>
        </p:nvSpPr>
        <p:spPr>
          <a:xfrm>
            <a:off x="7269480" y="3063240"/>
            <a:ext cx="4279392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374151"/>
                </a:solidFill>
                <a:latin typeface="Arial"/>
              </a:rPr>
              <a:t>Libro tiene titulo y disponible como atributos privados con getters y setters.</a:t>
            </a:r>
          </a:p>
        </p:txBody>
      </p:sp>
      <p:sp>
        <p:nvSpPr>
          <p:cNvPr id="22" name="Número requisito 2"/>
          <p:cNvSpPr/>
          <p:nvPr/>
        </p:nvSpPr>
        <p:spPr>
          <a:xfrm>
            <a:off x="6766560" y="3575304"/>
            <a:ext cx="329184" cy="329184"/>
          </a:xfrm>
          <a:prstGeom prst="ellipse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 i="0">
                <a:solidFill>
                  <a:srgbClr val="D97706"/>
                </a:solidFill>
                <a:latin typeface="Arial"/>
              </a:rPr>
              <a:t>2</a:t>
            </a:r>
          </a:p>
        </p:txBody>
      </p:sp>
      <p:sp>
        <p:nvSpPr>
          <p:cNvPr id="23" name="Texto requisito 2"/>
          <p:cNvSpPr txBox="1"/>
          <p:nvPr/>
        </p:nvSpPr>
        <p:spPr>
          <a:xfrm>
            <a:off x="7269480" y="3538728"/>
            <a:ext cx="4279392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374151"/>
                </a:solidFill>
                <a:latin typeface="Arial"/>
              </a:rPr>
              <a:t>registrar(Libro libro) recibe el libro como parámetro.</a:t>
            </a:r>
          </a:p>
        </p:txBody>
      </p:sp>
      <p:sp>
        <p:nvSpPr>
          <p:cNvPr id="24" name="Número requisito 3"/>
          <p:cNvSpPr/>
          <p:nvPr/>
        </p:nvSpPr>
        <p:spPr>
          <a:xfrm>
            <a:off x="6766560" y="4050792"/>
            <a:ext cx="329184" cy="329184"/>
          </a:xfrm>
          <a:prstGeom prst="ellipse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 i="0">
                <a:solidFill>
                  <a:srgbClr val="D97706"/>
                </a:solidFill>
                <a:latin typeface="Arial"/>
              </a:rPr>
              <a:t>3</a:t>
            </a:r>
          </a:p>
        </p:txBody>
      </p:sp>
      <p:sp>
        <p:nvSpPr>
          <p:cNvPr id="25" name="Texto requisito 3"/>
          <p:cNvSpPr txBox="1"/>
          <p:nvPr/>
        </p:nvSpPr>
        <p:spPr>
          <a:xfrm>
            <a:off x="7269480" y="4014216"/>
            <a:ext cx="4279392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374151"/>
                </a:solidFill>
                <a:latin typeface="Arial"/>
              </a:rPr>
              <a:t>Si está disponible: marcarlo como no disponible y retornar true; si no, false.</a:t>
            </a:r>
          </a:p>
        </p:txBody>
      </p:sp>
      <p:sp>
        <p:nvSpPr>
          <p:cNvPr id="26" name="Número requisito 4"/>
          <p:cNvSpPr/>
          <p:nvPr/>
        </p:nvSpPr>
        <p:spPr>
          <a:xfrm>
            <a:off x="6766560" y="4526280"/>
            <a:ext cx="329184" cy="329184"/>
          </a:xfrm>
          <a:prstGeom prst="ellipse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 i="0">
                <a:solidFill>
                  <a:srgbClr val="D97706"/>
                </a:solidFill>
                <a:latin typeface="Arial"/>
              </a:rPr>
              <a:t>4</a:t>
            </a:r>
          </a:p>
        </p:txBody>
      </p:sp>
      <p:sp>
        <p:nvSpPr>
          <p:cNvPr id="27" name="Texto requisito 4"/>
          <p:cNvSpPr txBox="1"/>
          <p:nvPr/>
        </p:nvSpPr>
        <p:spPr>
          <a:xfrm>
            <a:off x="7269480" y="4489704"/>
            <a:ext cx="4279392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374151"/>
                </a:solidFill>
                <a:latin typeface="Arial"/>
              </a:rPr>
              <a:t>En main, intentar prestar el mismo libro dos veces y mostrar el resultado.</a:t>
            </a:r>
          </a:p>
        </p:txBody>
      </p:sp>
      <p:sp>
        <p:nvSpPr>
          <p:cNvPr id="28" name="Salida esperada"/>
          <p:cNvSpPr/>
          <p:nvPr/>
        </p:nvSpPr>
        <p:spPr>
          <a:xfrm>
            <a:off x="640080" y="5166360"/>
            <a:ext cx="6583680" cy="114300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Salida esperada barra"/>
          <p:cNvSpPr/>
          <p:nvPr/>
        </p:nvSpPr>
        <p:spPr>
          <a:xfrm>
            <a:off x="640080" y="5166360"/>
            <a:ext cx="6583680" cy="310896"/>
          </a:xfrm>
          <a:prstGeom prst="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Botón ventana"/>
          <p:cNvSpPr/>
          <p:nvPr/>
        </p:nvSpPr>
        <p:spPr>
          <a:xfrm>
            <a:off x="777240" y="5266944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Botón ventana"/>
          <p:cNvSpPr/>
          <p:nvPr/>
        </p:nvSpPr>
        <p:spPr>
          <a:xfrm>
            <a:off x="978408" y="5266944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Botón ventana"/>
          <p:cNvSpPr/>
          <p:nvPr/>
        </p:nvSpPr>
        <p:spPr>
          <a:xfrm>
            <a:off x="1179576" y="5266944"/>
            <a:ext cx="109728" cy="109728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Salida esperada archivo"/>
          <p:cNvSpPr txBox="1"/>
          <p:nvPr/>
        </p:nvSpPr>
        <p:spPr>
          <a:xfrm>
            <a:off x="1463040" y="5221224"/>
            <a:ext cx="5577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Consolas"/>
              </a:rPr>
              <a:t>Salida esperada en consola</a:t>
            </a:r>
          </a:p>
        </p:txBody>
      </p:sp>
      <p:sp>
        <p:nvSpPr>
          <p:cNvPr id="34" name="Salida esperada texto"/>
          <p:cNvSpPr txBox="1"/>
          <p:nvPr/>
        </p:nvSpPr>
        <p:spPr>
          <a:xfrm>
            <a:off x="804671" y="5568696"/>
            <a:ext cx="6309360" cy="69494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>
                <a:solidFill>
                  <a:srgbClr val="D4D4D4"/>
                </a:solidFill>
                <a:latin typeface="Consolas"/>
              </a:rPr>
              <a:t>Préstamo</a:t>
            </a: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  <a:r>
              <a:rPr sz="1100">
                <a:solidFill>
                  <a:srgbClr val="D4D4D4"/>
                </a:solidFill>
                <a:latin typeface="Consolas"/>
              </a:rPr>
              <a:t>realizado</a:t>
            </a:r>
            <a:r>
              <a:rPr sz="1100">
                <a:solidFill>
                  <a:srgbClr val="D4D4D4"/>
                </a:solidFill>
                <a:latin typeface="Consolas"/>
              </a:rPr>
              <a:t>:</a:t>
            </a: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  <a:r>
              <a:rPr sz="1100">
                <a:solidFill>
                  <a:srgbClr val="D4D4D4"/>
                </a:solidFill>
                <a:latin typeface="Consolas"/>
              </a:rPr>
              <a:t>true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Préstamo</a:t>
            </a: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  <a:r>
              <a:rPr sz="1100">
                <a:solidFill>
                  <a:srgbClr val="D4D4D4"/>
                </a:solidFill>
                <a:latin typeface="Consolas"/>
              </a:rPr>
              <a:t>realizado</a:t>
            </a:r>
            <a:r>
              <a:rPr sz="1100">
                <a:solidFill>
                  <a:srgbClr val="D4D4D4"/>
                </a:solidFill>
                <a:latin typeface="Consolas"/>
              </a:rPr>
              <a:t>:</a:t>
            </a: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  <a:r>
              <a:rPr sz="1100">
                <a:solidFill>
                  <a:srgbClr val="D4D4D4"/>
                </a:solidFill>
                <a:latin typeface="Consolas"/>
              </a:rPr>
              <a:t>false</a:t>
            </a:r>
          </a:p>
        </p:txBody>
      </p:sp>
      <p:sp>
        <p:nvSpPr>
          <p:cNvPr id="35" name="Panel roles"/>
          <p:cNvSpPr/>
          <p:nvPr/>
        </p:nvSpPr>
        <p:spPr>
          <a:xfrm>
            <a:off x="7498079" y="5166360"/>
            <a:ext cx="4050791" cy="114300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ítulo roles"/>
          <p:cNvSpPr txBox="1"/>
          <p:nvPr/>
        </p:nvSpPr>
        <p:spPr>
          <a:xfrm>
            <a:off x="7680960" y="5239512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D97706"/>
                </a:solidFill>
                <a:latin typeface="Arial"/>
              </a:rPr>
              <a:t>REPARTO SUGERIDO DEL EQUIPO</a:t>
            </a:r>
          </a:p>
        </p:txBody>
      </p:sp>
      <p:sp>
        <p:nvSpPr>
          <p:cNvPr id="37" name="Lista roles"/>
          <p:cNvSpPr txBox="1"/>
          <p:nvPr/>
        </p:nvSpPr>
        <p:spPr>
          <a:xfrm>
            <a:off x="7680960" y="5504688"/>
            <a:ext cx="37490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374151"/>
                </a:solidFill>
                <a:latin typeface="Arial"/>
              </a:rPr>
              <a:t>1 · Define las clases y atributos</a:t>
            </a:r>
          </a:p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374151"/>
                </a:solidFill>
                <a:latin typeface="Arial"/>
              </a:rPr>
              <a:t>2 · Implementa los métodos</a:t>
            </a:r>
          </a:p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374151"/>
                </a:solidFill>
                <a:latin typeface="Arial"/>
              </a:rPr>
              <a:t>3 · Escribe la clase Principal (main)</a:t>
            </a:r>
          </a:p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374151"/>
                </a:solidFill>
                <a:latin typeface="Arial"/>
              </a:rPr>
              <a:t>4 · Prueba y revisa la salida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rra lateral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Etiqueta sección"/>
          <p:cNvSpPr txBox="1"/>
          <p:nvPr/>
        </p:nvSpPr>
        <p:spPr>
          <a:xfrm>
            <a:off x="64008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  <a:latin typeface="Arial"/>
              </a:rPr>
              <a:t>TALLER GRUPAL · EJERCICIO 4 DE 5</a:t>
            </a:r>
          </a:p>
        </p:txBody>
      </p:sp>
      <p:sp>
        <p:nvSpPr>
          <p:cNvPr id="4" name="Título"/>
          <p:cNvSpPr txBox="1"/>
          <p:nvPr/>
        </p:nvSpPr>
        <p:spPr>
          <a:xfrm>
            <a:off x="640080" y="621792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F2A44"/>
                </a:solidFill>
                <a:latin typeface="Arial"/>
              </a:rPr>
              <a:t>Tienda en línea: Carrito y Producto</a:t>
            </a:r>
          </a:p>
        </p:txBody>
      </p:sp>
      <p:sp>
        <p:nvSpPr>
          <p:cNvPr id="5" name="Subrayado título"/>
          <p:cNvSpPr/>
          <p:nvPr/>
        </p:nvSpPr>
        <p:spPr>
          <a:xfrm>
            <a:off x="640080" y="1280160"/>
            <a:ext cx="822960" cy="457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"/>
          <p:cNvSpPr txBox="1"/>
          <p:nvPr/>
        </p:nvSpPr>
        <p:spPr>
          <a:xfrm>
            <a:off x="64008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Arial"/>
              </a:rPr>
              <a:t>Algoritmos y Lógica de Programación · Clase 1 · Cierre APE 4</a:t>
            </a:r>
          </a:p>
        </p:txBody>
      </p:sp>
      <p:sp>
        <p:nvSpPr>
          <p:cNvPr id="7" name="Número de diapositiva"/>
          <p:cNvSpPr txBox="1"/>
          <p:nvPr/>
        </p:nvSpPr>
        <p:spPr>
          <a:xfrm>
            <a:off x="10881360" y="6446520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Arial"/>
              </a:rPr>
              <a:t>5</a:t>
            </a:r>
          </a:p>
        </p:txBody>
      </p:sp>
      <p:sp>
        <p:nvSpPr>
          <p:cNvPr id="8" name="Enunciado"/>
          <p:cNvSpPr/>
          <p:nvPr/>
        </p:nvSpPr>
        <p:spPr>
          <a:xfrm>
            <a:off x="640080" y="1554480"/>
            <a:ext cx="10908792" cy="1005840"/>
          </a:xfrm>
          <a:prstGeom prst="roundRect">
            <a:avLst>
              <a:gd name="adj" fmla="val 8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 bIns="320040"/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93C5FD"/>
                </a:solidFill>
                <a:latin typeface="Arial"/>
              </a:rPr>
              <a:t>ESCENARIO</a:t>
            </a:r>
          </a:p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Una tienda en línea necesita un carrito que agregue productos y calcule el total a pagar.</a:t>
            </a:r>
          </a:p>
        </p:txBody>
      </p:sp>
      <p:sp>
        <p:nvSpPr>
          <p:cNvPr id="9" name="Franja enunciado"/>
          <p:cNvSpPr/>
          <p:nvPr/>
        </p:nvSpPr>
        <p:spPr>
          <a:xfrm>
            <a:off x="640080" y="1664207"/>
            <a:ext cx="82296" cy="7863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tiqueta clases"/>
          <p:cNvSpPr txBox="1"/>
          <p:nvPr/>
        </p:nvSpPr>
        <p:spPr>
          <a:xfrm>
            <a:off x="640080" y="2743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6B7280"/>
                </a:solidFill>
                <a:latin typeface="Arial"/>
              </a:rPr>
              <a:t>CLASES SUGERIDAS</a:t>
            </a:r>
          </a:p>
        </p:txBody>
      </p:sp>
      <p:sp>
        <p:nvSpPr>
          <p:cNvPr id="11" name="Etiqueta requisitos"/>
          <p:cNvSpPr txBox="1"/>
          <p:nvPr/>
        </p:nvSpPr>
        <p:spPr>
          <a:xfrm>
            <a:off x="6766560" y="27432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6B7280"/>
                </a:solidFill>
                <a:latin typeface="Arial"/>
              </a:rPr>
              <a:t>REQUISITOS</a:t>
            </a:r>
          </a:p>
        </p:txBody>
      </p:sp>
      <p:sp>
        <p:nvSpPr>
          <p:cNvPr id="12" name="Clase Carrito"/>
          <p:cNvSpPr/>
          <p:nvPr/>
        </p:nvSpPr>
        <p:spPr>
          <a:xfrm>
            <a:off x="640080" y="3063240"/>
            <a:ext cx="2651760" cy="1600200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lase Carrito encabezado"/>
          <p:cNvSpPr/>
          <p:nvPr/>
        </p:nvSpPr>
        <p:spPr>
          <a:xfrm>
            <a:off x="640080" y="3063240"/>
            <a:ext cx="2651760" cy="3657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Carrito</a:t>
            </a:r>
          </a:p>
        </p:txBody>
      </p:sp>
      <p:sp>
        <p:nvSpPr>
          <p:cNvPr id="14" name="Clase Carrito miembros"/>
          <p:cNvSpPr txBox="1"/>
          <p:nvPr/>
        </p:nvSpPr>
        <p:spPr>
          <a:xfrm>
            <a:off x="777240" y="3538728"/>
            <a:ext cx="2377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11827"/>
                </a:solidFill>
                <a:latin typeface="Consolas"/>
              </a:rPr>
              <a:t>- int cantidad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11827"/>
                </a:solidFill>
                <a:latin typeface="Consolas"/>
              </a:rPr>
              <a:t>- double total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11827"/>
                </a:solidFill>
                <a:latin typeface="Consolas"/>
              </a:rPr>
              <a:t>agregarProducto(Producto p)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11827"/>
                </a:solidFill>
                <a:latin typeface="Consolas"/>
              </a:rPr>
              <a:t>double calcularTotal()</a:t>
            </a:r>
          </a:p>
        </p:txBody>
      </p:sp>
      <p:sp>
        <p:nvSpPr>
          <p:cNvPr id="15" name="Clase Producto"/>
          <p:cNvSpPr/>
          <p:nvPr/>
        </p:nvSpPr>
        <p:spPr>
          <a:xfrm>
            <a:off x="3840480" y="3063240"/>
            <a:ext cx="2651760" cy="160020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lase Producto encabezado"/>
          <p:cNvSpPr/>
          <p:nvPr/>
        </p:nvSpPr>
        <p:spPr>
          <a:xfrm>
            <a:off x="3840480" y="3063240"/>
            <a:ext cx="2651760" cy="3657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Producto</a:t>
            </a:r>
          </a:p>
        </p:txBody>
      </p:sp>
      <p:sp>
        <p:nvSpPr>
          <p:cNvPr id="17" name="Clase Producto miembros"/>
          <p:cNvSpPr txBox="1"/>
          <p:nvPr/>
        </p:nvSpPr>
        <p:spPr>
          <a:xfrm>
            <a:off x="3977640" y="3538728"/>
            <a:ext cx="2377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11827"/>
                </a:solidFill>
                <a:latin typeface="Consolas"/>
              </a:rPr>
              <a:t>- String nombre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11827"/>
                </a:solidFill>
                <a:latin typeface="Consolas"/>
              </a:rPr>
              <a:t>- double precio</a:t>
            </a:r>
          </a:p>
        </p:txBody>
      </p:sp>
      <p:cxnSp>
        <p:nvCxnSpPr>
          <p:cNvPr id="18" name="Flecha entre clases"/>
          <p:cNvCxnSpPr>
            <a:stCxn id="12" idx="3"/>
            <a:endCxn id="15" idx="1"/>
          </p:cNvCxnSpPr>
          <p:nvPr/>
        </p:nvCxnSpPr>
        <p:spPr>
          <a:xfrm flipV="1">
            <a:off x="3291840" y="3863340"/>
            <a:ext cx="548640" cy="0"/>
          </a:xfrm>
          <a:prstGeom prst="line">
            <a:avLst/>
          </a:prstGeom>
          <a:ln w="31750">
            <a:solidFill>
              <a:srgbClr val="1F2A4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Nota diagrama"/>
          <p:cNvSpPr txBox="1"/>
          <p:nvPr/>
        </p:nvSpPr>
        <p:spPr>
          <a:xfrm>
            <a:off x="640080" y="4727448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1">
                <a:solidFill>
                  <a:srgbClr val="6B7280"/>
                </a:solidFill>
                <a:latin typeface="Arial"/>
              </a:rPr>
              <a:t>Carrito usa los métodos públicos de Producto sin acceder directamente a sus atributos.</a:t>
            </a:r>
          </a:p>
        </p:txBody>
      </p:sp>
      <p:sp>
        <p:nvSpPr>
          <p:cNvPr id="20" name="Número requisito 1"/>
          <p:cNvSpPr/>
          <p:nvPr/>
        </p:nvSpPr>
        <p:spPr>
          <a:xfrm>
            <a:off x="6766560" y="3099816"/>
            <a:ext cx="329184" cy="329184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 i="0">
                <a:solidFill>
                  <a:srgbClr val="7C3AED"/>
                </a:solidFill>
                <a:latin typeface="Arial"/>
              </a:rPr>
              <a:t>1</a:t>
            </a:r>
          </a:p>
        </p:txBody>
      </p:sp>
      <p:sp>
        <p:nvSpPr>
          <p:cNvPr id="21" name="Texto requisito 1"/>
          <p:cNvSpPr txBox="1"/>
          <p:nvPr/>
        </p:nvSpPr>
        <p:spPr>
          <a:xfrm>
            <a:off x="7269480" y="3063240"/>
            <a:ext cx="4279392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374151"/>
                </a:solidFill>
                <a:latin typeface="Arial"/>
              </a:rPr>
              <a:t>Producto tiene nombre y precio; Carrito acumula cantidad y total.</a:t>
            </a:r>
          </a:p>
        </p:txBody>
      </p:sp>
      <p:sp>
        <p:nvSpPr>
          <p:cNvPr id="22" name="Número requisito 2"/>
          <p:cNvSpPr/>
          <p:nvPr/>
        </p:nvSpPr>
        <p:spPr>
          <a:xfrm>
            <a:off x="6766560" y="3575304"/>
            <a:ext cx="329184" cy="329184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 i="0">
                <a:solidFill>
                  <a:srgbClr val="7C3AED"/>
                </a:solidFill>
                <a:latin typeface="Arial"/>
              </a:rPr>
              <a:t>2</a:t>
            </a:r>
          </a:p>
        </p:txBody>
      </p:sp>
      <p:sp>
        <p:nvSpPr>
          <p:cNvPr id="23" name="Texto requisito 2"/>
          <p:cNvSpPr txBox="1"/>
          <p:nvPr/>
        </p:nvSpPr>
        <p:spPr>
          <a:xfrm>
            <a:off x="7269480" y="3538728"/>
            <a:ext cx="4279392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374151"/>
                </a:solidFill>
                <a:latin typeface="Arial"/>
              </a:rPr>
              <a:t>agregarProducto(Producto p) suma el precio al total y aumenta la cantidad.</a:t>
            </a:r>
          </a:p>
        </p:txBody>
      </p:sp>
      <p:sp>
        <p:nvSpPr>
          <p:cNvPr id="24" name="Número requisito 3"/>
          <p:cNvSpPr/>
          <p:nvPr/>
        </p:nvSpPr>
        <p:spPr>
          <a:xfrm>
            <a:off x="6766560" y="4050792"/>
            <a:ext cx="329184" cy="329184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 i="0">
                <a:solidFill>
                  <a:srgbClr val="7C3AED"/>
                </a:solidFill>
                <a:latin typeface="Arial"/>
              </a:rPr>
              <a:t>3</a:t>
            </a:r>
          </a:p>
        </p:txBody>
      </p:sp>
      <p:sp>
        <p:nvSpPr>
          <p:cNvPr id="25" name="Texto requisito 3"/>
          <p:cNvSpPr txBox="1"/>
          <p:nvPr/>
        </p:nvSpPr>
        <p:spPr>
          <a:xfrm>
            <a:off x="7269480" y="4014216"/>
            <a:ext cx="4279392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374151"/>
                </a:solidFill>
                <a:latin typeface="Arial"/>
              </a:rPr>
              <a:t>calcularTotal() retorna el total acumulado como double.</a:t>
            </a:r>
          </a:p>
        </p:txBody>
      </p:sp>
      <p:sp>
        <p:nvSpPr>
          <p:cNvPr id="26" name="Número requisito 4"/>
          <p:cNvSpPr/>
          <p:nvPr/>
        </p:nvSpPr>
        <p:spPr>
          <a:xfrm>
            <a:off x="6766560" y="4526280"/>
            <a:ext cx="329184" cy="329184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 i="0">
                <a:solidFill>
                  <a:srgbClr val="7C3AED"/>
                </a:solidFill>
                <a:latin typeface="Arial"/>
              </a:rPr>
              <a:t>4</a:t>
            </a:r>
          </a:p>
        </p:txBody>
      </p:sp>
      <p:sp>
        <p:nvSpPr>
          <p:cNvPr id="27" name="Texto requisito 4"/>
          <p:cNvSpPr txBox="1"/>
          <p:nvPr/>
        </p:nvSpPr>
        <p:spPr>
          <a:xfrm>
            <a:off x="7269480" y="4489704"/>
            <a:ext cx="4279392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374151"/>
                </a:solidFill>
                <a:latin typeface="Arial"/>
              </a:rPr>
              <a:t>En main, agregar 2 productos distintos y mostrar cantidad y total.</a:t>
            </a:r>
          </a:p>
        </p:txBody>
      </p:sp>
      <p:sp>
        <p:nvSpPr>
          <p:cNvPr id="28" name="Salida esperada"/>
          <p:cNvSpPr/>
          <p:nvPr/>
        </p:nvSpPr>
        <p:spPr>
          <a:xfrm>
            <a:off x="640080" y="5166360"/>
            <a:ext cx="6583680" cy="114300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Salida esperada barra"/>
          <p:cNvSpPr/>
          <p:nvPr/>
        </p:nvSpPr>
        <p:spPr>
          <a:xfrm>
            <a:off x="640080" y="5166360"/>
            <a:ext cx="6583680" cy="310896"/>
          </a:xfrm>
          <a:prstGeom prst="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Botón ventana"/>
          <p:cNvSpPr/>
          <p:nvPr/>
        </p:nvSpPr>
        <p:spPr>
          <a:xfrm>
            <a:off x="777240" y="5266944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Botón ventana"/>
          <p:cNvSpPr/>
          <p:nvPr/>
        </p:nvSpPr>
        <p:spPr>
          <a:xfrm>
            <a:off x="978408" y="5266944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Botón ventana"/>
          <p:cNvSpPr/>
          <p:nvPr/>
        </p:nvSpPr>
        <p:spPr>
          <a:xfrm>
            <a:off x="1179576" y="5266944"/>
            <a:ext cx="109728" cy="109728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Salida esperada archivo"/>
          <p:cNvSpPr txBox="1"/>
          <p:nvPr/>
        </p:nvSpPr>
        <p:spPr>
          <a:xfrm>
            <a:off x="1463040" y="5221224"/>
            <a:ext cx="5577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Consolas"/>
              </a:rPr>
              <a:t>Salida esperada en consola</a:t>
            </a:r>
          </a:p>
        </p:txBody>
      </p:sp>
      <p:sp>
        <p:nvSpPr>
          <p:cNvPr id="34" name="Salida esperada texto"/>
          <p:cNvSpPr txBox="1"/>
          <p:nvPr/>
        </p:nvSpPr>
        <p:spPr>
          <a:xfrm>
            <a:off x="804671" y="5568696"/>
            <a:ext cx="6309360" cy="69494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>
                <a:solidFill>
                  <a:srgbClr val="D4D4D4"/>
                </a:solidFill>
                <a:latin typeface="Consolas"/>
              </a:rPr>
              <a:t>Cantidad</a:t>
            </a: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  <a:r>
              <a:rPr sz="1100">
                <a:solidFill>
                  <a:srgbClr val="D4D4D4"/>
                </a:solidFill>
                <a:latin typeface="Consolas"/>
              </a:rPr>
              <a:t>de</a:t>
            </a: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  <a:r>
              <a:rPr sz="1100">
                <a:solidFill>
                  <a:srgbClr val="D4D4D4"/>
                </a:solidFill>
                <a:latin typeface="Consolas"/>
              </a:rPr>
              <a:t>productos</a:t>
            </a:r>
            <a:r>
              <a:rPr sz="1100">
                <a:solidFill>
                  <a:srgbClr val="D4D4D4"/>
                </a:solidFill>
                <a:latin typeface="Consolas"/>
              </a:rPr>
              <a:t>:</a:t>
            </a: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  <a:r>
              <a:rPr sz="1100">
                <a:solidFill>
                  <a:srgbClr val="D4D4D4"/>
                </a:solidFill>
                <a:latin typeface="Consolas"/>
              </a:rPr>
              <a:t>2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Total</a:t>
            </a: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  <a:r>
              <a:rPr sz="1100">
                <a:solidFill>
                  <a:srgbClr val="D4D4D4"/>
                </a:solidFill>
                <a:latin typeface="Consolas"/>
              </a:rPr>
              <a:t>a</a:t>
            </a: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  <a:r>
              <a:rPr sz="1100">
                <a:solidFill>
                  <a:srgbClr val="D4D4D4"/>
                </a:solidFill>
                <a:latin typeface="Consolas"/>
              </a:rPr>
              <a:t>pagar</a:t>
            </a:r>
            <a:r>
              <a:rPr sz="1100">
                <a:solidFill>
                  <a:srgbClr val="D4D4D4"/>
                </a:solidFill>
                <a:latin typeface="Consolas"/>
              </a:rPr>
              <a:t>:</a:t>
            </a: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  <a:r>
              <a:rPr sz="1100">
                <a:solidFill>
                  <a:srgbClr val="D4D4D4"/>
                </a:solidFill>
                <a:latin typeface="Consolas"/>
              </a:rPr>
              <a:t>35</a:t>
            </a:r>
            <a:r>
              <a:rPr sz="1100">
                <a:solidFill>
                  <a:srgbClr val="D4D4D4"/>
                </a:solidFill>
                <a:latin typeface="Consolas"/>
              </a:rPr>
              <a:t>.</a:t>
            </a:r>
            <a:r>
              <a:rPr sz="1100">
                <a:solidFill>
                  <a:srgbClr val="D4D4D4"/>
                </a:solidFill>
                <a:latin typeface="Consolas"/>
              </a:rPr>
              <a:t>5</a:t>
            </a:r>
          </a:p>
        </p:txBody>
      </p:sp>
      <p:sp>
        <p:nvSpPr>
          <p:cNvPr id="35" name="Panel roles"/>
          <p:cNvSpPr/>
          <p:nvPr/>
        </p:nvSpPr>
        <p:spPr>
          <a:xfrm>
            <a:off x="7498079" y="5166360"/>
            <a:ext cx="4050791" cy="114300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ítulo roles"/>
          <p:cNvSpPr txBox="1"/>
          <p:nvPr/>
        </p:nvSpPr>
        <p:spPr>
          <a:xfrm>
            <a:off x="7680960" y="5239512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7C3AED"/>
                </a:solidFill>
                <a:latin typeface="Arial"/>
              </a:rPr>
              <a:t>REPARTO SUGERIDO DEL EQUIPO</a:t>
            </a:r>
          </a:p>
        </p:txBody>
      </p:sp>
      <p:sp>
        <p:nvSpPr>
          <p:cNvPr id="37" name="Lista roles"/>
          <p:cNvSpPr txBox="1"/>
          <p:nvPr/>
        </p:nvSpPr>
        <p:spPr>
          <a:xfrm>
            <a:off x="7680960" y="5504688"/>
            <a:ext cx="37490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374151"/>
                </a:solidFill>
                <a:latin typeface="Arial"/>
              </a:rPr>
              <a:t>1 · Define las clases y atributos</a:t>
            </a:r>
          </a:p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374151"/>
                </a:solidFill>
                <a:latin typeface="Arial"/>
              </a:rPr>
              <a:t>2 · Implementa los métodos</a:t>
            </a:r>
          </a:p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374151"/>
                </a:solidFill>
                <a:latin typeface="Arial"/>
              </a:rPr>
              <a:t>3 · Escribe la clase Principal (main)</a:t>
            </a:r>
          </a:p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374151"/>
                </a:solidFill>
                <a:latin typeface="Arial"/>
              </a:rPr>
              <a:t>4 · Prueba y revisa la salida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rra lateral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Etiqueta sección"/>
          <p:cNvSpPr txBox="1"/>
          <p:nvPr/>
        </p:nvSpPr>
        <p:spPr>
          <a:xfrm>
            <a:off x="64008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  <a:latin typeface="Arial"/>
              </a:rPr>
              <a:t>TALLER GRUPAL · EJERCICIO 5 DE 5</a:t>
            </a:r>
          </a:p>
        </p:txBody>
      </p:sp>
      <p:sp>
        <p:nvSpPr>
          <p:cNvPr id="4" name="Título"/>
          <p:cNvSpPr txBox="1"/>
          <p:nvPr/>
        </p:nvSpPr>
        <p:spPr>
          <a:xfrm>
            <a:off x="640080" y="621792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F2A44"/>
                </a:solidFill>
                <a:latin typeface="Arial"/>
              </a:rPr>
              <a:t>Reto integrador: transferencias en el Banco</a:t>
            </a:r>
          </a:p>
        </p:txBody>
      </p:sp>
      <p:sp>
        <p:nvSpPr>
          <p:cNvPr id="5" name="Subrayado título"/>
          <p:cNvSpPr/>
          <p:nvPr/>
        </p:nvSpPr>
        <p:spPr>
          <a:xfrm>
            <a:off x="640080" y="1280160"/>
            <a:ext cx="822960" cy="457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"/>
          <p:cNvSpPr txBox="1"/>
          <p:nvPr/>
        </p:nvSpPr>
        <p:spPr>
          <a:xfrm>
            <a:off x="64008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Arial"/>
              </a:rPr>
              <a:t>Algoritmos y Lógica de Programación · Clase 1 · Cierre APE 4</a:t>
            </a:r>
          </a:p>
        </p:txBody>
      </p:sp>
      <p:sp>
        <p:nvSpPr>
          <p:cNvPr id="7" name="Número de diapositiva"/>
          <p:cNvSpPr txBox="1"/>
          <p:nvPr/>
        </p:nvSpPr>
        <p:spPr>
          <a:xfrm>
            <a:off x="10881360" y="6446520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Arial"/>
              </a:rPr>
              <a:t>6</a:t>
            </a:r>
          </a:p>
        </p:txBody>
      </p:sp>
      <p:sp>
        <p:nvSpPr>
          <p:cNvPr id="8" name="Enunciado"/>
          <p:cNvSpPr/>
          <p:nvPr/>
        </p:nvSpPr>
        <p:spPr>
          <a:xfrm>
            <a:off x="640080" y="1554480"/>
            <a:ext cx="10908792" cy="1005840"/>
          </a:xfrm>
          <a:prstGeom prst="roundRect">
            <a:avLst>
              <a:gd name="adj" fmla="val 8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 bIns="320040"/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93C5FD"/>
                </a:solidFill>
                <a:latin typeface="Arial"/>
              </a:rPr>
              <a:t>ESCENARIO</a:t>
            </a:r>
          </a:p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Reto integrador: el Banco debe transferir dinero entre dos cuentas, validando que el saldo alcance.</a:t>
            </a:r>
          </a:p>
        </p:txBody>
      </p:sp>
      <p:sp>
        <p:nvSpPr>
          <p:cNvPr id="9" name="Franja enunciado"/>
          <p:cNvSpPr/>
          <p:nvPr/>
        </p:nvSpPr>
        <p:spPr>
          <a:xfrm>
            <a:off x="640080" y="1664207"/>
            <a:ext cx="82296" cy="78638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tiqueta clases"/>
          <p:cNvSpPr txBox="1"/>
          <p:nvPr/>
        </p:nvSpPr>
        <p:spPr>
          <a:xfrm>
            <a:off x="640080" y="2743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6B7280"/>
                </a:solidFill>
                <a:latin typeface="Arial"/>
              </a:rPr>
              <a:t>CLASES SUGERIDAS</a:t>
            </a:r>
          </a:p>
        </p:txBody>
      </p:sp>
      <p:sp>
        <p:nvSpPr>
          <p:cNvPr id="11" name="Etiqueta requisitos"/>
          <p:cNvSpPr txBox="1"/>
          <p:nvPr/>
        </p:nvSpPr>
        <p:spPr>
          <a:xfrm>
            <a:off x="6766560" y="27432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6B7280"/>
                </a:solidFill>
                <a:latin typeface="Arial"/>
              </a:rPr>
              <a:t>REQUISITOS</a:t>
            </a:r>
          </a:p>
        </p:txBody>
      </p:sp>
      <p:sp>
        <p:nvSpPr>
          <p:cNvPr id="12" name="Clase Banco"/>
          <p:cNvSpPr/>
          <p:nvPr/>
        </p:nvSpPr>
        <p:spPr>
          <a:xfrm>
            <a:off x="640080" y="3063240"/>
            <a:ext cx="2651760" cy="1600200"/>
          </a:xfrm>
          <a:prstGeom prst="rect">
            <a:avLst/>
          </a:prstGeom>
          <a:solidFill>
            <a:srgbClr val="FFFFFF"/>
          </a:solidFill>
          <a:ln w="254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lase Banco encabezado"/>
          <p:cNvSpPr/>
          <p:nvPr/>
        </p:nvSpPr>
        <p:spPr>
          <a:xfrm>
            <a:off x="640080" y="3063240"/>
            <a:ext cx="2651760" cy="3657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Banco</a:t>
            </a:r>
          </a:p>
        </p:txBody>
      </p:sp>
      <p:sp>
        <p:nvSpPr>
          <p:cNvPr id="14" name="Clase Banco miembros"/>
          <p:cNvSpPr txBox="1"/>
          <p:nvPr/>
        </p:nvSpPr>
        <p:spPr>
          <a:xfrm>
            <a:off x="777240" y="3538728"/>
            <a:ext cx="2377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11827"/>
                </a:solidFill>
                <a:latin typeface="Consolas"/>
              </a:rPr>
              <a:t>boolean transferir(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11827"/>
                </a:solidFill>
                <a:latin typeface="Consolas"/>
              </a:rPr>
              <a:t>    Cuenta origen,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11827"/>
                </a:solidFill>
                <a:latin typeface="Consolas"/>
              </a:rPr>
              <a:t>    Cuenta destino,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11827"/>
                </a:solidFill>
                <a:latin typeface="Consolas"/>
              </a:rPr>
              <a:t>    double monto)</a:t>
            </a:r>
          </a:p>
        </p:txBody>
      </p:sp>
      <p:sp>
        <p:nvSpPr>
          <p:cNvPr id="15" name="Clase Cuenta"/>
          <p:cNvSpPr/>
          <p:nvPr/>
        </p:nvSpPr>
        <p:spPr>
          <a:xfrm>
            <a:off x="3840480" y="3063240"/>
            <a:ext cx="2651760" cy="160020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lase Cuenta encabezado"/>
          <p:cNvSpPr/>
          <p:nvPr/>
        </p:nvSpPr>
        <p:spPr>
          <a:xfrm>
            <a:off x="3840480" y="3063240"/>
            <a:ext cx="2651760" cy="3657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Cuenta</a:t>
            </a:r>
          </a:p>
        </p:txBody>
      </p:sp>
      <p:sp>
        <p:nvSpPr>
          <p:cNvPr id="17" name="Clase Cuenta miembros"/>
          <p:cNvSpPr txBox="1"/>
          <p:nvPr/>
        </p:nvSpPr>
        <p:spPr>
          <a:xfrm>
            <a:off x="3977640" y="3538728"/>
            <a:ext cx="2377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11827"/>
                </a:solidFill>
                <a:latin typeface="Consolas"/>
              </a:rPr>
              <a:t>- String titular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11827"/>
                </a:solidFill>
                <a:latin typeface="Consolas"/>
              </a:rPr>
              <a:t>- double saldo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11827"/>
                </a:solidFill>
                <a:latin typeface="Consolas"/>
              </a:rPr>
              <a:t>boolean retirar(double m)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11827"/>
                </a:solidFill>
                <a:latin typeface="Consolas"/>
              </a:rPr>
              <a:t>void depositar(double m)</a:t>
            </a:r>
          </a:p>
        </p:txBody>
      </p:sp>
      <p:cxnSp>
        <p:nvCxnSpPr>
          <p:cNvPr id="18" name="Flecha entre clases"/>
          <p:cNvCxnSpPr>
            <a:stCxn id="12" idx="3"/>
            <a:endCxn id="15" idx="1"/>
          </p:cNvCxnSpPr>
          <p:nvPr/>
        </p:nvCxnSpPr>
        <p:spPr>
          <a:xfrm flipV="1">
            <a:off x="3291840" y="3863340"/>
            <a:ext cx="548640" cy="0"/>
          </a:xfrm>
          <a:prstGeom prst="line">
            <a:avLst/>
          </a:prstGeom>
          <a:ln w="31750">
            <a:solidFill>
              <a:srgbClr val="1F2A4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Nota diagrama"/>
          <p:cNvSpPr txBox="1"/>
          <p:nvPr/>
        </p:nvSpPr>
        <p:spPr>
          <a:xfrm>
            <a:off x="640080" y="4727448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1">
                <a:solidFill>
                  <a:srgbClr val="6B7280"/>
                </a:solidFill>
                <a:latin typeface="Arial"/>
              </a:rPr>
              <a:t>Banco recibe dos objetos Cuenta como parámetros y los hace colaborar.</a:t>
            </a:r>
          </a:p>
        </p:txBody>
      </p:sp>
      <p:sp>
        <p:nvSpPr>
          <p:cNvPr id="20" name="Número requisito 1"/>
          <p:cNvSpPr/>
          <p:nvPr/>
        </p:nvSpPr>
        <p:spPr>
          <a:xfrm>
            <a:off x="6766560" y="3099816"/>
            <a:ext cx="329184" cy="329184"/>
          </a:xfrm>
          <a:prstGeom prst="ellipse">
            <a:avLst/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 i="0">
                <a:solidFill>
                  <a:srgbClr val="DC2626"/>
                </a:solidFill>
                <a:latin typeface="Arial"/>
              </a:rPr>
              <a:t>1</a:t>
            </a:r>
          </a:p>
        </p:txBody>
      </p:sp>
      <p:sp>
        <p:nvSpPr>
          <p:cNvPr id="21" name="Texto requisito 1"/>
          <p:cNvSpPr txBox="1"/>
          <p:nvPr/>
        </p:nvSpPr>
        <p:spPr>
          <a:xfrm>
            <a:off x="7269480" y="3063240"/>
            <a:ext cx="4279392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374151"/>
                </a:solidFill>
                <a:latin typeface="Arial"/>
              </a:rPr>
              <a:t>Cuenta con titular y saldo privados; retirar retorna boolean y depositar es void.</a:t>
            </a:r>
          </a:p>
        </p:txBody>
      </p:sp>
      <p:sp>
        <p:nvSpPr>
          <p:cNvPr id="22" name="Número requisito 2"/>
          <p:cNvSpPr/>
          <p:nvPr/>
        </p:nvSpPr>
        <p:spPr>
          <a:xfrm>
            <a:off x="6766560" y="3575304"/>
            <a:ext cx="329184" cy="329184"/>
          </a:xfrm>
          <a:prstGeom prst="ellipse">
            <a:avLst/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 i="0">
                <a:solidFill>
                  <a:srgbClr val="DC2626"/>
                </a:solidFill>
                <a:latin typeface="Arial"/>
              </a:rPr>
              <a:t>2</a:t>
            </a:r>
          </a:p>
        </p:txBody>
      </p:sp>
      <p:sp>
        <p:nvSpPr>
          <p:cNvPr id="23" name="Texto requisito 2"/>
          <p:cNvSpPr txBox="1"/>
          <p:nvPr/>
        </p:nvSpPr>
        <p:spPr>
          <a:xfrm>
            <a:off x="7269480" y="3538728"/>
            <a:ext cx="4279392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374151"/>
                </a:solidFill>
                <a:latin typeface="Arial"/>
              </a:rPr>
              <a:t>transferir(origen, destino, monto) retorna boolean.</a:t>
            </a:r>
          </a:p>
        </p:txBody>
      </p:sp>
      <p:sp>
        <p:nvSpPr>
          <p:cNvPr id="24" name="Número requisito 3"/>
          <p:cNvSpPr/>
          <p:nvPr/>
        </p:nvSpPr>
        <p:spPr>
          <a:xfrm>
            <a:off x="6766560" y="4050792"/>
            <a:ext cx="329184" cy="329184"/>
          </a:xfrm>
          <a:prstGeom prst="ellipse">
            <a:avLst/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 i="0">
                <a:solidFill>
                  <a:srgbClr val="DC2626"/>
                </a:solidFill>
                <a:latin typeface="Arial"/>
              </a:rPr>
              <a:t>3</a:t>
            </a:r>
          </a:p>
        </p:txBody>
      </p:sp>
      <p:sp>
        <p:nvSpPr>
          <p:cNvPr id="25" name="Texto requisito 3"/>
          <p:cNvSpPr txBox="1"/>
          <p:nvPr/>
        </p:nvSpPr>
        <p:spPr>
          <a:xfrm>
            <a:off x="7269480" y="4014216"/>
            <a:ext cx="4279392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374151"/>
                </a:solidFill>
                <a:latin typeface="Arial"/>
              </a:rPr>
              <a:t>Si el retiro de origen falla, no depositar y retornar false.</a:t>
            </a:r>
          </a:p>
        </p:txBody>
      </p:sp>
      <p:sp>
        <p:nvSpPr>
          <p:cNvPr id="26" name="Número requisito 4"/>
          <p:cNvSpPr/>
          <p:nvPr/>
        </p:nvSpPr>
        <p:spPr>
          <a:xfrm>
            <a:off x="6766560" y="4526280"/>
            <a:ext cx="329184" cy="329184"/>
          </a:xfrm>
          <a:prstGeom prst="ellipse">
            <a:avLst/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 i="0">
                <a:solidFill>
                  <a:srgbClr val="DC2626"/>
                </a:solidFill>
                <a:latin typeface="Arial"/>
              </a:rPr>
              <a:t>4</a:t>
            </a:r>
          </a:p>
        </p:txBody>
      </p:sp>
      <p:sp>
        <p:nvSpPr>
          <p:cNvPr id="27" name="Texto requisito 4"/>
          <p:cNvSpPr txBox="1"/>
          <p:nvPr/>
        </p:nvSpPr>
        <p:spPr>
          <a:xfrm>
            <a:off x="7269480" y="4489704"/>
            <a:ext cx="4279392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374151"/>
                </a:solidFill>
                <a:latin typeface="Arial"/>
              </a:rPr>
              <a:t>En main, probar una transferencia exitosa y otra con fondos insuficientes.</a:t>
            </a:r>
          </a:p>
        </p:txBody>
      </p:sp>
      <p:sp>
        <p:nvSpPr>
          <p:cNvPr id="28" name="Salida esperada"/>
          <p:cNvSpPr/>
          <p:nvPr/>
        </p:nvSpPr>
        <p:spPr>
          <a:xfrm>
            <a:off x="640080" y="5166360"/>
            <a:ext cx="6583680" cy="114300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Salida esperada barra"/>
          <p:cNvSpPr/>
          <p:nvPr/>
        </p:nvSpPr>
        <p:spPr>
          <a:xfrm>
            <a:off x="640080" y="5166360"/>
            <a:ext cx="6583680" cy="310896"/>
          </a:xfrm>
          <a:prstGeom prst="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Botón ventana"/>
          <p:cNvSpPr/>
          <p:nvPr/>
        </p:nvSpPr>
        <p:spPr>
          <a:xfrm>
            <a:off x="777240" y="5266944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Botón ventana"/>
          <p:cNvSpPr/>
          <p:nvPr/>
        </p:nvSpPr>
        <p:spPr>
          <a:xfrm>
            <a:off x="978408" y="5266944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Botón ventana"/>
          <p:cNvSpPr/>
          <p:nvPr/>
        </p:nvSpPr>
        <p:spPr>
          <a:xfrm>
            <a:off x="1179576" y="5266944"/>
            <a:ext cx="109728" cy="109728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Salida esperada archivo"/>
          <p:cNvSpPr txBox="1"/>
          <p:nvPr/>
        </p:nvSpPr>
        <p:spPr>
          <a:xfrm>
            <a:off x="1463040" y="5221224"/>
            <a:ext cx="5577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Consolas"/>
              </a:rPr>
              <a:t>Salida esperada en consola</a:t>
            </a:r>
          </a:p>
        </p:txBody>
      </p:sp>
      <p:sp>
        <p:nvSpPr>
          <p:cNvPr id="34" name="Salida esperada texto"/>
          <p:cNvSpPr txBox="1"/>
          <p:nvPr/>
        </p:nvSpPr>
        <p:spPr>
          <a:xfrm>
            <a:off x="804671" y="5568696"/>
            <a:ext cx="6309360" cy="69494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>
                <a:solidFill>
                  <a:srgbClr val="D4D4D4"/>
                </a:solidFill>
                <a:latin typeface="Consolas"/>
              </a:rPr>
              <a:t>Transferencia</a:t>
            </a: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  <a:r>
              <a:rPr sz="1100">
                <a:solidFill>
                  <a:srgbClr val="D4D4D4"/>
                </a:solidFill>
                <a:latin typeface="Consolas"/>
              </a:rPr>
              <a:t>exitosa</a:t>
            </a:r>
            <a:r>
              <a:rPr sz="1100">
                <a:solidFill>
                  <a:srgbClr val="D4D4D4"/>
                </a:solidFill>
                <a:latin typeface="Consolas"/>
              </a:rPr>
              <a:t>:</a:t>
            </a: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  <a:r>
              <a:rPr sz="1100">
                <a:solidFill>
                  <a:srgbClr val="D4D4D4"/>
                </a:solidFill>
                <a:latin typeface="Consolas"/>
              </a:rPr>
              <a:t>true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Saldo</a:t>
            </a: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  <a:r>
              <a:rPr sz="1100">
                <a:solidFill>
                  <a:srgbClr val="D4D4D4"/>
                </a:solidFill>
                <a:latin typeface="Consolas"/>
              </a:rPr>
              <a:t>origen</a:t>
            </a:r>
            <a:r>
              <a:rPr sz="1100">
                <a:solidFill>
                  <a:srgbClr val="D4D4D4"/>
                </a:solidFill>
                <a:latin typeface="Consolas"/>
              </a:rPr>
              <a:t>:</a:t>
            </a: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  <a:r>
              <a:rPr sz="1100">
                <a:solidFill>
                  <a:srgbClr val="D4D4D4"/>
                </a:solidFill>
                <a:latin typeface="Consolas"/>
              </a:rPr>
              <a:t>400</a:t>
            </a:r>
            <a:r>
              <a:rPr sz="1100">
                <a:solidFill>
                  <a:srgbClr val="D4D4D4"/>
                </a:solidFill>
                <a:latin typeface="Consolas"/>
              </a:rPr>
              <a:t>.</a:t>
            </a:r>
            <a:r>
              <a:rPr sz="1100">
                <a:solidFill>
                  <a:srgbClr val="D4D4D4"/>
                </a:solidFill>
                <a:latin typeface="Consolas"/>
              </a:rPr>
              <a:t>0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Saldo</a:t>
            </a: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  <a:r>
              <a:rPr sz="1100">
                <a:solidFill>
                  <a:srgbClr val="D4D4D4"/>
                </a:solidFill>
                <a:latin typeface="Consolas"/>
              </a:rPr>
              <a:t>destino</a:t>
            </a:r>
            <a:r>
              <a:rPr sz="1100">
                <a:solidFill>
                  <a:srgbClr val="D4D4D4"/>
                </a:solidFill>
                <a:latin typeface="Consolas"/>
              </a:rPr>
              <a:t>:</a:t>
            </a: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  <a:r>
              <a:rPr sz="1100">
                <a:solidFill>
                  <a:srgbClr val="D4D4D4"/>
                </a:solidFill>
                <a:latin typeface="Consolas"/>
              </a:rPr>
              <a:t>350</a:t>
            </a:r>
            <a:r>
              <a:rPr sz="1100">
                <a:solidFill>
                  <a:srgbClr val="D4D4D4"/>
                </a:solidFill>
                <a:latin typeface="Consolas"/>
              </a:rPr>
              <a:t>.</a:t>
            </a:r>
            <a:r>
              <a:rPr sz="1100">
                <a:solidFill>
                  <a:srgbClr val="D4D4D4"/>
                </a:solidFill>
                <a:latin typeface="Consolas"/>
              </a:rPr>
              <a:t>0</a:t>
            </a:r>
          </a:p>
        </p:txBody>
      </p:sp>
      <p:sp>
        <p:nvSpPr>
          <p:cNvPr id="35" name="Panel roles"/>
          <p:cNvSpPr/>
          <p:nvPr/>
        </p:nvSpPr>
        <p:spPr>
          <a:xfrm>
            <a:off x="7498079" y="5166360"/>
            <a:ext cx="4050791" cy="114300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ítulo roles"/>
          <p:cNvSpPr txBox="1"/>
          <p:nvPr/>
        </p:nvSpPr>
        <p:spPr>
          <a:xfrm>
            <a:off x="7680960" y="5239512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DC2626"/>
                </a:solidFill>
                <a:latin typeface="Arial"/>
              </a:rPr>
              <a:t>REPARTO SUGERIDO DEL EQUIPO</a:t>
            </a:r>
          </a:p>
        </p:txBody>
      </p:sp>
      <p:sp>
        <p:nvSpPr>
          <p:cNvPr id="37" name="Lista roles"/>
          <p:cNvSpPr txBox="1"/>
          <p:nvPr/>
        </p:nvSpPr>
        <p:spPr>
          <a:xfrm>
            <a:off x="7680960" y="5504688"/>
            <a:ext cx="37490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374151"/>
                </a:solidFill>
                <a:latin typeface="Arial"/>
              </a:rPr>
              <a:t>1 · Define las clases y atributos</a:t>
            </a:r>
          </a:p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374151"/>
                </a:solidFill>
                <a:latin typeface="Arial"/>
              </a:rPr>
              <a:t>2 · Implementa los métodos</a:t>
            </a:r>
          </a:p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374151"/>
                </a:solidFill>
                <a:latin typeface="Arial"/>
              </a:rPr>
              <a:t>3 · Escribe la clase Principal (main)</a:t>
            </a:r>
          </a:p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374151"/>
                </a:solidFill>
                <a:latin typeface="Arial"/>
              </a:rPr>
              <a:t>4 · Prueba y revisa la salida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