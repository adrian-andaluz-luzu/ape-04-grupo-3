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Bienvenida. Presentamos al Grupo N° 3 y el tema de la Clase 1: cómo se integran clases, objetos y métodos en Java. Cierre del APE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objetivo general y las tres partes de la sesión: colaboración entre clases (1.2), firmas de métodos (1.3) y ejercicio guiado en vivo (1.4). Luego cierre y dudas (1.5).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la colaboración ocurre de dos maneras: como atributo (Estudiante tiene un Carnet) o como parámetro (aplicar(Cuenta cuenta)). El diagrama muestra la flecha del Objeto A hacia el Objeto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firma de un método es su nombre más la lista de parámetros. El tipo de retorno indica qué valor entrega; si no devuelve nada se usa void. Ejemplo: calcularArea recibe dos double y devuelve un double.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Código resumido para la diapositiva; en VS Code se escribe completo (constructores, mostrarSaldo y la clase Principal con cuenta1 = Ana Torres, 500.0; depósito de 250.0 y retiro de 100.0). Punto clave: el objeto cuenta1 se pasa al método aplicar. La transacción no guarda una copia independiente del saldo: usa los métodos de la cuenta para modificarlo de forma controlada.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10-12 minutos. Los estudiantes crean Categoria y Producto en VS Code. Verificar atributos privados, getters/setters, el método que retorna nombre del producto + categoría, y la prueba en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8-10 minutos. Recordar: si el tipo de retorno es boolean, todos los caminos del método deben usar return. En main, usar if con el valor devuelto para mostrar el mensaje.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12-15 minutos. Cada estudiante marca los tres puntos de control. Idea clave: al pasar un objeto como parámetro se comparte la referencia, no se copia el objeto.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clase"/>
          <p:cNvSpPr/>
          <p:nvPr/>
        </p:nvSpPr>
        <p:spPr>
          <a:xfrm>
            <a:off x="868680" y="91440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o etiqueta clase"/>
          <p:cNvSpPr txBox="1"/>
          <p:nvPr/>
        </p:nvSpPr>
        <p:spPr>
          <a:xfrm>
            <a:off x="868680" y="91440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Arial"/>
              </a:rPr>
              <a:t>CLASE 1 · CIERRE APE 4</a:t>
            </a:r>
          </a:p>
        </p:txBody>
      </p:sp>
      <p:sp>
        <p:nvSpPr>
          <p:cNvPr id="5" name="Título"/>
          <p:cNvSpPr txBox="1"/>
          <p:nvPr/>
        </p:nvSpPr>
        <p:spPr>
          <a:xfrm>
            <a:off x="868680" y="1600200"/>
            <a:ext cx="6400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F2A44"/>
                </a:solidFill>
                <a:latin typeface="Arial"/>
              </a:rPr>
              <a:t>Integración de Clases, Objetos y Métodos en Java</a:t>
            </a:r>
          </a:p>
        </p:txBody>
      </p:sp>
      <p:sp>
        <p:nvSpPr>
          <p:cNvPr id="6" name="Subrayado título"/>
          <p:cNvSpPr/>
          <p:nvPr/>
        </p:nvSpPr>
        <p:spPr>
          <a:xfrm>
            <a:off x="868680" y="370332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ubtítulo"/>
          <p:cNvSpPr txBox="1"/>
          <p:nvPr/>
        </p:nvSpPr>
        <p:spPr>
          <a:xfrm>
            <a:off x="868680" y="39319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Arial"/>
              </a:rPr>
              <a:t>Algoritmos y Lógica de Programación (Paralelo 1B)</a:t>
            </a:r>
          </a:p>
        </p:txBody>
      </p:sp>
      <p:sp>
        <p:nvSpPr>
          <p:cNvPr id="8" name="Etiqueta presentadores"/>
          <p:cNvSpPr txBox="1"/>
          <p:nvPr/>
        </p:nvSpPr>
        <p:spPr>
          <a:xfrm>
            <a:off x="86868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rial"/>
              </a:rPr>
              <a:t>PRESENTADORES · GRUPO N° 3</a:t>
            </a:r>
          </a:p>
        </p:txBody>
      </p:sp>
      <p:sp>
        <p:nvSpPr>
          <p:cNvPr id="9" name="Presentador 1"/>
          <p:cNvSpPr/>
          <p:nvPr/>
        </p:nvSpPr>
        <p:spPr>
          <a:xfrm>
            <a:off x="868680" y="5120640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400" b="1" i="0">
                <a:solidFill>
                  <a:srgbClr val="1F2A44"/>
                </a:solidFill>
                <a:latin typeface="Arial"/>
              </a:rPr>
              <a:t>Adrián Andaluz</a:t>
            </a:r>
          </a:p>
        </p:txBody>
      </p:sp>
      <p:sp>
        <p:nvSpPr>
          <p:cNvPr id="10" name="Presentador 2"/>
          <p:cNvSpPr/>
          <p:nvPr/>
        </p:nvSpPr>
        <p:spPr>
          <a:xfrm>
            <a:off x="3657600" y="5120640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400" b="1" i="0">
                <a:solidFill>
                  <a:srgbClr val="1F2A44"/>
                </a:solidFill>
                <a:latin typeface="Arial"/>
              </a:rPr>
              <a:t>Ariel Chanatasig</a:t>
            </a:r>
          </a:p>
        </p:txBody>
      </p:sp>
      <p:sp>
        <p:nvSpPr>
          <p:cNvPr id="11" name="Presentador 3"/>
          <p:cNvSpPr/>
          <p:nvPr/>
        </p:nvSpPr>
        <p:spPr>
          <a:xfrm>
            <a:off x="868680" y="5687568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400" b="1" i="0">
                <a:solidFill>
                  <a:srgbClr val="1F2A44"/>
                </a:solidFill>
                <a:latin typeface="Arial"/>
              </a:rPr>
              <a:t>Mateo Salazar</a:t>
            </a:r>
          </a:p>
        </p:txBody>
      </p:sp>
      <p:sp>
        <p:nvSpPr>
          <p:cNvPr id="12" name="Presentador 4"/>
          <p:cNvSpPr/>
          <p:nvPr/>
        </p:nvSpPr>
        <p:spPr>
          <a:xfrm>
            <a:off x="3657600" y="5687568"/>
            <a:ext cx="2651760" cy="45720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400" b="1" i="0">
                <a:solidFill>
                  <a:srgbClr val="1F2A44"/>
                </a:solidFill>
                <a:latin typeface="Arial"/>
              </a:rPr>
              <a:t>Paulo Escobar</a:t>
            </a:r>
          </a:p>
        </p:txBody>
      </p:sp>
      <p:sp>
        <p:nvSpPr>
          <p:cNvPr id="13" name="Decoración Clase A"/>
          <p:cNvSpPr/>
          <p:nvPr/>
        </p:nvSpPr>
        <p:spPr>
          <a:xfrm>
            <a:off x="7863840" y="173736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800" b="1" i="0">
                <a:solidFill>
                  <a:srgbClr val="2563EB"/>
                </a:solidFill>
                <a:latin typeface="Arial"/>
              </a:rPr>
              <a:t>Estudiante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onsolas"/>
              </a:rPr>
              <a:t>nombre · carnet</a:t>
            </a:r>
          </a:p>
        </p:txBody>
      </p:sp>
      <p:sp>
        <p:nvSpPr>
          <p:cNvPr id="14" name="Decoración Clase B"/>
          <p:cNvSpPr/>
          <p:nvPr/>
        </p:nvSpPr>
        <p:spPr>
          <a:xfrm>
            <a:off x="7863840" y="393192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800" b="1" i="0">
                <a:solidFill>
                  <a:srgbClr val="059669"/>
                </a:solidFill>
                <a:latin typeface="Arial"/>
              </a:rPr>
              <a:t>Carnet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onsolas"/>
              </a:rPr>
              <a:t>codigo · facultad</a:t>
            </a:r>
          </a:p>
        </p:txBody>
      </p:sp>
      <p:cxnSp>
        <p:nvCxnSpPr>
          <p:cNvPr id="15" name="Flecha decoración"/>
          <p:cNvCxnSpPr>
            <a:stCxn id="13" idx="2"/>
            <a:endCxn id="14" idx="0"/>
          </p:cNvCxnSpPr>
          <p:nvPr/>
        </p:nvCxnSpPr>
        <p:spPr>
          <a:xfrm flipH="1">
            <a:off x="9509760" y="3154680"/>
            <a:ext cx="0" cy="777240"/>
          </a:xfrm>
          <a:prstGeom prst="line">
            <a:avLst/>
          </a:prstGeom>
          <a:ln w="2857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tiqueta flecha"/>
          <p:cNvSpPr txBox="1"/>
          <p:nvPr/>
        </p:nvSpPr>
        <p:spPr>
          <a:xfrm>
            <a:off x="9601200" y="3337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Arial"/>
              </a:rPr>
              <a:t>colabora con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sección"/>
          <p:cNvSpPr txBox="1"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rial"/>
              </a:rPr>
              <a:t>AGENDA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Arial"/>
              </a:rPr>
              <a:t>Agenda y objetivos de la sesión</a:t>
            </a:r>
          </a:p>
        </p:txBody>
      </p:sp>
      <p:sp>
        <p:nvSpPr>
          <p:cNvPr id="5" name="Subrayado título"/>
          <p:cNvSpPr/>
          <p:nvPr/>
        </p:nvSpPr>
        <p:spPr>
          <a:xfrm>
            <a:off x="640080" y="1280160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Algoritmos y Lógica de Programación · Clase 1 · Cierre APE 4</a:t>
            </a:r>
          </a:p>
        </p:txBody>
      </p:sp>
      <p:sp>
        <p:nvSpPr>
          <p:cNvPr id="7" name="Número de diapositiva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8" name="Objetivo general"/>
          <p:cNvSpPr/>
          <p:nvPr/>
        </p:nvSpPr>
        <p:spPr>
          <a:xfrm>
            <a:off x="640080" y="1554480"/>
            <a:ext cx="10908792" cy="105156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93C5FD"/>
                </a:solidFill>
                <a:latin typeface="Arial"/>
              </a:rPr>
              <a:t>Objetivo de la clase  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Relacionar clases mediante atributos y parámetros, identificar la firma de un método y construir un programa sencillo en Java donde varios objetos colaboran entre sí.</a:t>
            </a:r>
          </a:p>
        </p:txBody>
      </p:sp>
      <p:sp>
        <p:nvSpPr>
          <p:cNvPr id="9" name="Tarjeta 1.2"/>
          <p:cNvSpPr/>
          <p:nvPr/>
        </p:nvSpPr>
        <p:spPr>
          <a:xfrm>
            <a:off x="640080" y="2926080"/>
            <a:ext cx="34290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anja 1.2"/>
          <p:cNvSpPr/>
          <p:nvPr/>
        </p:nvSpPr>
        <p:spPr>
          <a:xfrm>
            <a:off x="640080" y="2926080"/>
            <a:ext cx="342900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úmero 1.2"/>
          <p:cNvSpPr/>
          <p:nvPr/>
        </p:nvSpPr>
        <p:spPr>
          <a:xfrm>
            <a:off x="914400" y="3246120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2563EB"/>
                </a:solidFill>
                <a:latin typeface="Arial"/>
              </a:rPr>
              <a:t>1.2</a:t>
            </a:r>
          </a:p>
        </p:txBody>
      </p:sp>
      <p:sp>
        <p:nvSpPr>
          <p:cNvPr id="12" name="Título 1.2"/>
          <p:cNvSpPr txBox="1"/>
          <p:nvPr/>
        </p:nvSpPr>
        <p:spPr>
          <a:xfrm>
            <a:off x="914400" y="388620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A44"/>
                </a:solidFill>
                <a:latin typeface="Arial"/>
              </a:rPr>
              <a:t>Colaboración entre clases</a:t>
            </a:r>
          </a:p>
        </p:txBody>
      </p:sp>
      <p:sp>
        <p:nvSpPr>
          <p:cNvPr id="13" name="Descripción 1.2"/>
          <p:cNvSpPr txBox="1"/>
          <p:nvPr/>
        </p:nvSpPr>
        <p:spPr>
          <a:xfrm>
            <a:off x="914400" y="4572000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Arial"/>
              </a:rPr>
              <a:t>Una clase puede usar a otra como atributo o recibirla como parámetro, para que los objetos se comuniquen y trabajen juntos.</a:t>
            </a:r>
          </a:p>
        </p:txBody>
      </p:sp>
      <p:sp>
        <p:nvSpPr>
          <p:cNvPr id="14" name="Tarjeta 1.3"/>
          <p:cNvSpPr/>
          <p:nvPr/>
        </p:nvSpPr>
        <p:spPr>
          <a:xfrm>
            <a:off x="4379976" y="2926080"/>
            <a:ext cx="34290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anja 1.3"/>
          <p:cNvSpPr/>
          <p:nvPr/>
        </p:nvSpPr>
        <p:spPr>
          <a:xfrm>
            <a:off x="4379976" y="2926080"/>
            <a:ext cx="3429000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úmero 1.3"/>
          <p:cNvSpPr/>
          <p:nvPr/>
        </p:nvSpPr>
        <p:spPr>
          <a:xfrm>
            <a:off x="4654296" y="3246120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59669"/>
                </a:solidFill>
                <a:latin typeface="Arial"/>
              </a:rPr>
              <a:t>1.3</a:t>
            </a:r>
          </a:p>
        </p:txBody>
      </p:sp>
      <p:sp>
        <p:nvSpPr>
          <p:cNvPr id="17" name="Título 1.3"/>
          <p:cNvSpPr txBox="1"/>
          <p:nvPr/>
        </p:nvSpPr>
        <p:spPr>
          <a:xfrm>
            <a:off x="4654296" y="388620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A44"/>
                </a:solidFill>
                <a:latin typeface="Arial"/>
              </a:rPr>
              <a:t>Firmas de métodos</a:t>
            </a:r>
          </a:p>
        </p:txBody>
      </p:sp>
      <p:sp>
        <p:nvSpPr>
          <p:cNvPr id="18" name="Descripción 1.3"/>
          <p:cNvSpPr txBox="1"/>
          <p:nvPr/>
        </p:nvSpPr>
        <p:spPr>
          <a:xfrm>
            <a:off x="4654296" y="4572000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Arial"/>
              </a:rPr>
              <a:t>La firma está formada por el nombre y los parámetros. El tipo de retorno indica qué valor entrega el método, o void si no devuelve nada.</a:t>
            </a:r>
          </a:p>
        </p:txBody>
      </p:sp>
      <p:sp>
        <p:nvSpPr>
          <p:cNvPr id="19" name="Tarjeta 1.4"/>
          <p:cNvSpPr/>
          <p:nvPr/>
        </p:nvSpPr>
        <p:spPr>
          <a:xfrm>
            <a:off x="8119871" y="2926080"/>
            <a:ext cx="34290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anja 1.4"/>
          <p:cNvSpPr/>
          <p:nvPr/>
        </p:nvSpPr>
        <p:spPr>
          <a:xfrm>
            <a:off x="8119871" y="2926080"/>
            <a:ext cx="342900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úmero 1.4"/>
          <p:cNvSpPr/>
          <p:nvPr/>
        </p:nvSpPr>
        <p:spPr>
          <a:xfrm>
            <a:off x="8394192" y="3246120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D97706"/>
                </a:solidFill>
                <a:latin typeface="Arial"/>
              </a:rPr>
              <a:t>1.4</a:t>
            </a:r>
          </a:p>
        </p:txBody>
      </p:sp>
      <p:sp>
        <p:nvSpPr>
          <p:cNvPr id="22" name="Título 1.4"/>
          <p:cNvSpPr txBox="1"/>
          <p:nvPr/>
        </p:nvSpPr>
        <p:spPr>
          <a:xfrm>
            <a:off x="8394192" y="388620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A44"/>
                </a:solidFill>
                <a:latin typeface="Arial"/>
              </a:rPr>
              <a:t>Live Coding en VS Code</a:t>
            </a:r>
          </a:p>
        </p:txBody>
      </p:sp>
      <p:sp>
        <p:nvSpPr>
          <p:cNvPr id="23" name="Descripción 1.4"/>
          <p:cNvSpPr txBox="1"/>
          <p:nvPr/>
        </p:nvSpPr>
        <p:spPr>
          <a:xfrm>
            <a:off x="8394192" y="4572000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Arial"/>
              </a:rPr>
              <a:t>Ejercicio guiado: modelar una Cuenta bancaria y las Transacciones que se aplican sobre ella.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sección"/>
          <p:cNvSpPr txBox="1"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rial"/>
              </a:rPr>
              <a:t>SECCIÓN 1.2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Arial"/>
              </a:rPr>
              <a:t>Colaboración entre clases</a:t>
            </a:r>
          </a:p>
        </p:txBody>
      </p:sp>
      <p:sp>
        <p:nvSpPr>
          <p:cNvPr id="5" name="Subrayado título"/>
          <p:cNvSpPr/>
          <p:nvPr/>
        </p:nvSpPr>
        <p:spPr>
          <a:xfrm>
            <a:off x="640080" y="1280160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Algoritmos y Lógica de Programación · Clase 1 · Cierre APE 4</a:t>
            </a:r>
          </a:p>
        </p:txBody>
      </p:sp>
      <p:sp>
        <p:nvSpPr>
          <p:cNvPr id="7" name="Número de diapositiva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sp>
        <p:nvSpPr>
          <p:cNvPr id="8" name="Explicación"/>
          <p:cNvSpPr txBox="1"/>
          <p:nvPr/>
        </p:nvSpPr>
        <p:spPr>
          <a:xfrm>
            <a:off x="640080" y="1600200"/>
            <a:ext cx="4754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374151"/>
                </a:solidFill>
                <a:latin typeface="Arial"/>
              </a:rPr>
              <a:t>En Java, una clase puede utilizar otra clase como parte de su estructura: declarando un atributo cuyo tipo es otra clase, o recibiendo un objeto como parámetro en uno de sus métodos.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374151"/>
                </a:solidFill>
                <a:latin typeface="Arial"/>
              </a:rPr>
              <a:t>Esta relación permite que los objetos se comuniquen y trabajen juntos para resolver un problema.</a:t>
            </a:r>
          </a:p>
        </p:txBody>
      </p:sp>
      <p:sp>
        <p:nvSpPr>
          <p:cNvPr id="9" name="Objeto A"/>
          <p:cNvSpPr/>
          <p:nvPr/>
        </p:nvSpPr>
        <p:spPr>
          <a:xfrm>
            <a:off x="5852160" y="1554480"/>
            <a:ext cx="25146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bjeto A encabezado"/>
          <p:cNvSpPr/>
          <p:nvPr/>
        </p:nvSpPr>
        <p:spPr>
          <a:xfrm>
            <a:off x="5852160" y="1554480"/>
            <a:ext cx="251460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Objeto A · Estudiante</a:t>
            </a:r>
          </a:p>
        </p:txBody>
      </p:sp>
      <p:sp>
        <p:nvSpPr>
          <p:cNvPr id="11" name="Atributos Objeto A"/>
          <p:cNvSpPr txBox="1"/>
          <p:nvPr/>
        </p:nvSpPr>
        <p:spPr>
          <a:xfrm>
            <a:off x="6016752" y="2148840"/>
            <a:ext cx="2240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11827"/>
                </a:solidFill>
                <a:latin typeface="Consolas"/>
              </a:rPr>
              <a:t>String nombre;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563EB"/>
                </a:solidFill>
                <a:latin typeface="Consolas"/>
              </a:rPr>
              <a:t>Carnet carnet;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59669"/>
                </a:solidFill>
                <a:latin typeface="Consolas"/>
              </a:rPr>
              <a:t>// tiene un carnet</a:t>
            </a:r>
          </a:p>
        </p:txBody>
      </p:sp>
      <p:sp>
        <p:nvSpPr>
          <p:cNvPr id="12" name="Objeto B"/>
          <p:cNvSpPr/>
          <p:nvPr/>
        </p:nvSpPr>
        <p:spPr>
          <a:xfrm>
            <a:off x="9144000" y="1554480"/>
            <a:ext cx="240487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bjeto B encabezado"/>
          <p:cNvSpPr/>
          <p:nvPr/>
        </p:nvSpPr>
        <p:spPr>
          <a:xfrm>
            <a:off x="9144000" y="1554480"/>
            <a:ext cx="2404872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Objeto B · Carnet</a:t>
            </a:r>
          </a:p>
        </p:txBody>
      </p:sp>
      <p:sp>
        <p:nvSpPr>
          <p:cNvPr id="14" name="Atributos Objeto B"/>
          <p:cNvSpPr txBox="1"/>
          <p:nvPr/>
        </p:nvSpPr>
        <p:spPr>
          <a:xfrm>
            <a:off x="9308592" y="214884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11827"/>
                </a:solidFill>
                <a:latin typeface="Consolas"/>
              </a:rPr>
              <a:t>String codigo;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11827"/>
                </a:solidFill>
                <a:latin typeface="Consolas"/>
              </a:rPr>
              <a:t>String facultad;</a:t>
            </a:r>
          </a:p>
        </p:txBody>
      </p:sp>
      <p:cxnSp>
        <p:nvCxnSpPr>
          <p:cNvPr id="15" name="Flecha A hacia B"/>
          <p:cNvCxnSpPr>
            <a:stCxn id="9" idx="3"/>
            <a:endCxn id="12" idx="1"/>
          </p:cNvCxnSpPr>
          <p:nvPr/>
        </p:nvCxnSpPr>
        <p:spPr>
          <a:xfrm flipV="1">
            <a:off x="8366760" y="2354580"/>
            <a:ext cx="777240" cy="0"/>
          </a:xfrm>
          <a:prstGeom prst="line">
            <a:avLst/>
          </a:prstGeom>
          <a:ln w="349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tiqueta flecha"/>
          <p:cNvSpPr txBox="1"/>
          <p:nvPr/>
        </p:nvSpPr>
        <p:spPr>
          <a:xfrm>
            <a:off x="8321040" y="237744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2A44"/>
                </a:solidFill>
                <a:latin typeface="Arial"/>
              </a:rPr>
              <a:t>usa</a:t>
            </a:r>
          </a:p>
        </p:txBody>
      </p:sp>
      <p:sp>
        <p:nvSpPr>
          <p:cNvPr id="17" name="Nota diagrama"/>
          <p:cNvSpPr txBox="1"/>
          <p:nvPr/>
        </p:nvSpPr>
        <p:spPr>
          <a:xfrm>
            <a:off x="5852160" y="3291840"/>
            <a:ext cx="5696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rial"/>
              </a:rPr>
              <a:t>Cada estudiante posee su carnet; la información del carnet vive en una clase independiente.</a:t>
            </a:r>
          </a:p>
        </p:txBody>
      </p:sp>
      <p:sp>
        <p:nvSpPr>
          <p:cNvPr id="18" name="Etiqueta formas"/>
          <p:cNvSpPr txBox="1"/>
          <p:nvPr/>
        </p:nvSpPr>
        <p:spPr>
          <a:xfrm>
            <a:off x="640080" y="4251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DOS FORMAS PRINCIPALES DE COLABORACIÓN</a:t>
            </a:r>
          </a:p>
        </p:txBody>
      </p:sp>
      <p:sp>
        <p:nvSpPr>
          <p:cNvPr id="19" name="Tarjeta Como atributo"/>
          <p:cNvSpPr/>
          <p:nvPr/>
        </p:nvSpPr>
        <p:spPr>
          <a:xfrm>
            <a:off x="640080" y="4572000"/>
            <a:ext cx="537667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anja Como atributo"/>
          <p:cNvSpPr/>
          <p:nvPr/>
        </p:nvSpPr>
        <p:spPr>
          <a:xfrm>
            <a:off x="640080" y="4572000"/>
            <a:ext cx="82296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ítulo Como atributo"/>
          <p:cNvSpPr txBox="1"/>
          <p:nvPr/>
        </p:nvSpPr>
        <p:spPr>
          <a:xfrm>
            <a:off x="914400" y="468172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Arial"/>
              </a:rPr>
              <a:t>Como atributo</a:t>
            </a:r>
          </a:p>
        </p:txBody>
      </p:sp>
      <p:sp>
        <p:nvSpPr>
          <p:cNvPr id="22" name="Descripción Como atributo"/>
          <p:cNvSpPr txBox="1"/>
          <p:nvPr/>
        </p:nvSpPr>
        <p:spPr>
          <a:xfrm>
            <a:off x="914400" y="5029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Arial"/>
              </a:rPr>
              <a:t>Una clase guarda un objeto de otra clase como característica.</a:t>
            </a:r>
          </a:p>
        </p:txBody>
      </p:sp>
      <p:sp>
        <p:nvSpPr>
          <p:cNvPr id="23" name="Código Como atributo"/>
          <p:cNvSpPr/>
          <p:nvPr/>
        </p:nvSpPr>
        <p:spPr>
          <a:xfrm>
            <a:off x="914400" y="5623560"/>
            <a:ext cx="2926080" cy="4572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00" b="1" i="0">
                <a:solidFill>
                  <a:srgbClr val="111827"/>
                </a:solidFill>
                <a:latin typeface="Consolas"/>
              </a:rPr>
              <a:t>Carnet carnet;</a:t>
            </a:r>
          </a:p>
        </p:txBody>
      </p:sp>
      <p:sp>
        <p:nvSpPr>
          <p:cNvPr id="24" name="Ejemplo Como atributo"/>
          <p:cNvSpPr txBox="1"/>
          <p:nvPr/>
        </p:nvSpPr>
        <p:spPr>
          <a:xfrm>
            <a:off x="3977639" y="562356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Ej.: Un Estudiante tiene un atributo de tipo Carnet.</a:t>
            </a:r>
          </a:p>
        </p:txBody>
      </p:sp>
      <p:sp>
        <p:nvSpPr>
          <p:cNvPr id="25" name="Tarjeta Como parámetro"/>
          <p:cNvSpPr/>
          <p:nvPr/>
        </p:nvSpPr>
        <p:spPr>
          <a:xfrm>
            <a:off x="6172200" y="4572000"/>
            <a:ext cx="537667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anja Como parámetro"/>
          <p:cNvSpPr/>
          <p:nvPr/>
        </p:nvSpPr>
        <p:spPr>
          <a:xfrm>
            <a:off x="6172200" y="4572000"/>
            <a:ext cx="82296" cy="17373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ítulo Como parámetro"/>
          <p:cNvSpPr txBox="1"/>
          <p:nvPr/>
        </p:nvSpPr>
        <p:spPr>
          <a:xfrm>
            <a:off x="6446520" y="468172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Arial"/>
              </a:rPr>
              <a:t>Como parámetro</a:t>
            </a:r>
          </a:p>
        </p:txBody>
      </p:sp>
      <p:sp>
        <p:nvSpPr>
          <p:cNvPr id="28" name="Descripción Como parámetro"/>
          <p:cNvSpPr txBox="1"/>
          <p:nvPr/>
        </p:nvSpPr>
        <p:spPr>
          <a:xfrm>
            <a:off x="6446520" y="5029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Arial"/>
              </a:rPr>
              <a:t>Un método recibe un objeto de otra clase para utilizar su información.</a:t>
            </a:r>
          </a:p>
        </p:txBody>
      </p:sp>
      <p:sp>
        <p:nvSpPr>
          <p:cNvPr id="29" name="Código Como parámetro"/>
          <p:cNvSpPr/>
          <p:nvPr/>
        </p:nvSpPr>
        <p:spPr>
          <a:xfrm>
            <a:off x="6446520" y="5623560"/>
            <a:ext cx="2926080" cy="45720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00" b="1" i="0">
                <a:solidFill>
                  <a:srgbClr val="111827"/>
                </a:solidFill>
                <a:latin typeface="Consolas"/>
              </a:rPr>
              <a:t>aplicar(Cuenta cuenta)</a:t>
            </a:r>
          </a:p>
        </p:txBody>
      </p:sp>
      <p:sp>
        <p:nvSpPr>
          <p:cNvPr id="30" name="Ejemplo Como parámetro"/>
          <p:cNvSpPr txBox="1"/>
          <p:nvPr/>
        </p:nvSpPr>
        <p:spPr>
          <a:xfrm>
            <a:off x="9509760" y="562356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Ej.: El método aplicar(Cuenta cuenta) recibe una cuenta.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sección"/>
          <p:cNvSpPr txBox="1"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Arial"/>
              </a:rPr>
              <a:t>SECCIÓN 1.3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Arial"/>
              </a:rPr>
              <a:t>Firmas de métodos y tipos de retorno</a:t>
            </a:r>
          </a:p>
        </p:txBody>
      </p:sp>
      <p:sp>
        <p:nvSpPr>
          <p:cNvPr id="5" name="Subrayado título"/>
          <p:cNvSpPr/>
          <p:nvPr/>
        </p:nvSpPr>
        <p:spPr>
          <a:xfrm>
            <a:off x="640080" y="1280160"/>
            <a:ext cx="822960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Algoritmos y Lógica de Programación · Clase 1 · Cierre APE 4</a:t>
            </a:r>
          </a:p>
        </p:txBody>
      </p:sp>
      <p:sp>
        <p:nvSpPr>
          <p:cNvPr id="7" name="Número de diapositiva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graphicFrame>
        <p:nvGraphicFramePr>
          <p:cNvPr id="8" name="Tabla comparativa de firmas"/>
          <p:cNvGraphicFramePr>
            <a:graphicFrameLocks noGrp="1"/>
          </p:cNvGraphicFramePr>
          <p:nvPr/>
        </p:nvGraphicFramePr>
        <p:xfrm>
          <a:off x="640080" y="1554480"/>
          <a:ext cx="10908792" cy="2304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/>
                <a:gridCol w="2651760"/>
                <a:gridCol w="2286000"/>
                <a:gridCol w="441655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Tipo de método</a:t>
                      </a:r>
                    </a:p>
                  </a:txBody>
                  <a:tcPr anchor="ctr" marL="109728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Parámetros de entrada</a:t>
                      </a:r>
                    </a:p>
                  </a:txBody>
                  <a:tcPr anchor="ctr" marL="109728" marR="73152" marT="27432" marB="27432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Valor que devuelve</a:t>
                      </a:r>
                    </a:p>
                  </a:txBody>
                  <a:tcPr anchor="ctr" marL="109728" marR="73152" marT="27432" marB="27432">
                    <a:solidFill>
                      <a:srgbClr val="0596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Ejemplo de firma</a:t>
                      </a:r>
                    </a:p>
                  </a:txBody>
                  <a:tcPr anchor="ctr" marL="109728" marR="73152" marT="27432" marB="27432"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onsolas"/>
                        </a:rPr>
                        <a:t>void</a:t>
                      </a:r>
                    </a:p>
                  </a:txBody>
                  <a:tcPr anchor="ctr" marL="109728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11827"/>
                          </a:solidFill>
                          <a:latin typeface="Arial"/>
                        </a:rPr>
                        <a:t>Puede recibir o no parámetros</a:t>
                      </a:r>
                    </a:p>
                  </a:txBody>
                  <a:tcPr anchor="ctr" marL="109728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11827"/>
                          </a:solidFill>
                          <a:latin typeface="Arial"/>
                        </a:rPr>
                        <a:t>No devuelve valor</a:t>
                      </a:r>
                    </a:p>
                  </a:txBody>
                  <a:tcPr anchor="ctr" marL="109728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827"/>
                          </a:solidFill>
                          <a:latin typeface="Consolas"/>
                        </a:rPr>
                        <a:t>public void saludar()</a:t>
                      </a:r>
                    </a:p>
                  </a:txBody>
                  <a:tcPr anchor="ctr" marL="109728" marR="73152" marT="27432" marB="27432"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anchor="ctr" marL="109728" marR="73152" marT="27432" marB="27432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11827"/>
                          </a:solidFill>
                          <a:latin typeface="Arial"/>
                        </a:rPr>
                        <a:t>Puede recibir parámetros</a:t>
                      </a:r>
                    </a:p>
                  </a:txBody>
                  <a:tcPr anchor="ctr" marL="109728" marR="73152" marT="27432" marB="27432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11827"/>
                          </a:solidFill>
                          <a:latin typeface="Arial"/>
                        </a:rPr>
                        <a:t>Un número entero</a:t>
                      </a:r>
                    </a:p>
                  </a:txBody>
                  <a:tcPr anchor="ctr" marL="109728" marR="73152" marT="27432" marB="27432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827"/>
                          </a:solidFill>
                          <a:latin typeface="Consolas"/>
                        </a:rPr>
                        <a:t>public int obtenerEdad()</a:t>
                      </a:r>
                    </a:p>
                  </a:txBody>
                  <a:tcPr anchor="ctr" marL="109728" marR="73152" marT="27432" marB="27432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onsolas"/>
                        </a:rPr>
                        <a:t>double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11827"/>
                          </a:solidFill>
                          <a:latin typeface="Arial"/>
                        </a:rPr>
                        <a:t>Puede recibir parámetros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11827"/>
                          </a:solidFill>
                          <a:latin typeface="Arial"/>
                        </a:rPr>
                        <a:t>Un número decimal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827"/>
                          </a:solidFill>
                          <a:latin typeface="Consolas"/>
                        </a:rPr>
                        <a:t>public double calcularPromedio(double nota1, double nota2)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onsolas"/>
                        </a:rPr>
                        <a:t>String</a:t>
                      </a:r>
                    </a:p>
                  </a:txBody>
                  <a:tcPr anchor="ctr" marL="109728" marR="73152" marT="27432" marB="27432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11827"/>
                          </a:solidFill>
                          <a:latin typeface="Arial"/>
                        </a:rPr>
                        <a:t>Puede recibir parámetros</a:t>
                      </a:r>
                    </a:p>
                  </a:txBody>
                  <a:tcPr anchor="ctr" marL="109728" marR="73152" marT="27432" marB="27432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11827"/>
                          </a:solidFill>
                          <a:latin typeface="Arial"/>
                        </a:rPr>
                        <a:t>Texto</a:t>
                      </a:r>
                    </a:p>
                  </a:txBody>
                  <a:tcPr anchor="ctr" marL="109728" marR="73152" marT="27432" marB="27432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827"/>
                          </a:solidFill>
                          <a:latin typeface="Consolas"/>
                        </a:rPr>
                        <a:t>public String obtenerNombre()</a:t>
                      </a:r>
                    </a:p>
                  </a:txBody>
                  <a:tcPr anchor="ctr" marL="109728" marR="73152" marT="27432" marB="27432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onsolas"/>
                        </a:rPr>
                        <a:t>boolean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11827"/>
                          </a:solidFill>
                          <a:latin typeface="Arial"/>
                        </a:rPr>
                        <a:t>Puede recibir parámetros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11827"/>
                          </a:solidFill>
                          <a:latin typeface="Arial"/>
                        </a:rPr>
                        <a:t>true o false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827"/>
                          </a:solidFill>
                          <a:latin typeface="Consolas"/>
                        </a:rPr>
                        <a:t>public boolean tieneSaldo()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Etiqueta anatomía"/>
          <p:cNvSpPr txBox="1"/>
          <p:nvPr/>
        </p:nvSpPr>
        <p:spPr>
          <a:xfrm>
            <a:off x="640080" y="397763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ANATOMÍA DE UNA FIRMA</a:t>
            </a:r>
          </a:p>
        </p:txBody>
      </p:sp>
      <p:sp>
        <p:nvSpPr>
          <p:cNvPr id="10" name="Ejemplo calcularArea"/>
          <p:cNvSpPr/>
          <p:nvPr/>
        </p:nvSpPr>
        <p:spPr>
          <a:xfrm>
            <a:off x="640080" y="4297680"/>
            <a:ext cx="6675120" cy="109728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jemplo calcularArea texto"/>
          <p:cNvSpPr txBox="1"/>
          <p:nvPr/>
        </p:nvSpPr>
        <p:spPr>
          <a:xfrm>
            <a:off x="804671" y="4389120"/>
            <a:ext cx="6400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569CD6"/>
                </a:solidFill>
                <a:latin typeface="Consolas"/>
              </a:rPr>
              <a:t>public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double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calcularArea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569CD6"/>
                </a:solidFill>
                <a:latin typeface="Consolas"/>
              </a:rPr>
              <a:t>double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base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double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altura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    </a:t>
            </a:r>
            <a:r>
              <a:rPr sz="1200">
                <a:solidFill>
                  <a:srgbClr val="569CD6"/>
                </a:solidFill>
                <a:latin typeface="Consolas"/>
              </a:rPr>
              <a:t>return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base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altura</a:t>
            </a:r>
            <a:r>
              <a:rPr sz="1200">
                <a:solidFill>
                  <a:srgbClr val="D4D4D4"/>
                </a:solidFill>
                <a:latin typeface="Consolas"/>
              </a:rPr>
              <a:t>;</a:t>
            </a:r>
            <a:r>
              <a:rPr sz="1200">
                <a:solidFill>
                  <a:srgbClr val="D4D4D4"/>
                </a:solidFill>
                <a:latin typeface="Consolas"/>
              </a:rPr>
              <a:t>   </a:t>
            </a:r>
            <a:r>
              <a:rPr sz="1200">
                <a:solidFill>
                  <a:srgbClr val="6A9955"/>
                </a:solidFill>
                <a:latin typeface="Consolas"/>
              </a:rPr>
              <a:t>// el tipo devuelto coincide con la firma</a:t>
            </a:r>
          </a:p>
          <a:p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Etiqueta SALIDA"/>
          <p:cNvSpPr/>
          <p:nvPr/>
        </p:nvSpPr>
        <p:spPr>
          <a:xfrm>
            <a:off x="640080" y="5577840"/>
            <a:ext cx="2148840" cy="6858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59669"/>
                </a:solidFill>
                <a:latin typeface="Arial"/>
              </a:rPr>
              <a:t>SALIDA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11827"/>
                </a:solidFill>
                <a:latin typeface="Arial"/>
              </a:rPr>
              <a:t>Tipo de retorno: double</a:t>
            </a:r>
          </a:p>
        </p:txBody>
      </p:sp>
      <p:sp>
        <p:nvSpPr>
          <p:cNvPr id="13" name="Etiqueta FIRMA"/>
          <p:cNvSpPr/>
          <p:nvPr/>
        </p:nvSpPr>
        <p:spPr>
          <a:xfrm>
            <a:off x="2926080" y="5577840"/>
            <a:ext cx="2148840" cy="6858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1F2A44"/>
                </a:solidFill>
                <a:latin typeface="Arial"/>
              </a:rPr>
              <a:t>FIRMA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11827"/>
                </a:solidFill>
                <a:latin typeface="Arial"/>
              </a:rPr>
              <a:t>Nombre + lista de parámetros</a:t>
            </a:r>
          </a:p>
        </p:txBody>
      </p:sp>
      <p:sp>
        <p:nvSpPr>
          <p:cNvPr id="14" name="Etiqueta ENTRADA"/>
          <p:cNvSpPr/>
          <p:nvPr/>
        </p:nvSpPr>
        <p:spPr>
          <a:xfrm>
            <a:off x="5212080" y="5577840"/>
            <a:ext cx="2148840" cy="6858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ENTRADA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11827"/>
                </a:solidFill>
                <a:latin typeface="Arial"/>
              </a:rPr>
              <a:t>Parámetros: base, altura</a:t>
            </a:r>
          </a:p>
        </p:txBody>
      </p:sp>
      <p:sp>
        <p:nvSpPr>
          <p:cNvPr id="15" name="Panel reglas"/>
          <p:cNvSpPr/>
          <p:nvPr/>
        </p:nvSpPr>
        <p:spPr>
          <a:xfrm>
            <a:off x="7589520" y="4297680"/>
            <a:ext cx="395935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anja reglas"/>
          <p:cNvSpPr/>
          <p:nvPr/>
        </p:nvSpPr>
        <p:spPr>
          <a:xfrm>
            <a:off x="7589520" y="4297680"/>
            <a:ext cx="82296" cy="19659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ítulo reglas"/>
          <p:cNvSpPr txBox="1"/>
          <p:nvPr/>
        </p:nvSpPr>
        <p:spPr>
          <a:xfrm>
            <a:off x="7863840" y="44074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Arial"/>
              </a:rPr>
              <a:t>Reglas clave</a:t>
            </a:r>
          </a:p>
        </p:txBody>
      </p:sp>
      <p:sp>
        <p:nvSpPr>
          <p:cNvPr id="18" name="Texto reglas"/>
          <p:cNvSpPr txBox="1"/>
          <p:nvPr/>
        </p:nvSpPr>
        <p:spPr>
          <a:xfrm>
            <a:off x="7863840" y="475488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374151"/>
                </a:solidFill>
                <a:latin typeface="Arial"/>
              </a:rPr>
              <a:t>void: </a:t>
            </a:r>
            <a:r>
              <a:rPr sz="1250" b="0" i="0">
                <a:solidFill>
                  <a:srgbClr val="374151"/>
                </a:solidFill>
                <a:latin typeface="Arial"/>
              </a:rPr>
              <a:t>no devuelve ningún valor.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374151"/>
                </a:solidFill>
                <a:latin typeface="Arial"/>
              </a:rPr>
              <a:t>Con tipo: </a:t>
            </a:r>
            <a:r>
              <a:rPr sz="1250" b="0" i="0">
                <a:solidFill>
                  <a:srgbClr val="374151"/>
                </a:solidFill>
                <a:latin typeface="Arial"/>
              </a:rPr>
              <a:t>debe usar return.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Arial"/>
              </a:rPr>
              <a:t>El tipo del valor devuelto debe coincidir con el de la firma.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sección"/>
          <p:cNvSpPr txBox="1"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Arial"/>
              </a:rPr>
              <a:t>SECCIÓN 1.4 · LIVE CODING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Arial"/>
              </a:rPr>
              <a:t>Ejercicio guiado: Clases Cuenta y Transacción</a:t>
            </a:r>
          </a:p>
        </p:txBody>
      </p:sp>
      <p:sp>
        <p:nvSpPr>
          <p:cNvPr id="5" name="Subrayado título"/>
          <p:cNvSpPr/>
          <p:nvPr/>
        </p:nvSpPr>
        <p:spPr>
          <a:xfrm>
            <a:off x="640080" y="1280160"/>
            <a:ext cx="82296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Algoritmos y Lógica de Programación · Clase 1 · Cierre APE 4</a:t>
            </a:r>
          </a:p>
        </p:txBody>
      </p:sp>
      <p:sp>
        <p:nvSpPr>
          <p:cNvPr id="7" name="Número de diapositiva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8" name="Clase Cuenta"/>
          <p:cNvSpPr/>
          <p:nvPr/>
        </p:nvSpPr>
        <p:spPr>
          <a:xfrm>
            <a:off x="640080" y="1600200"/>
            <a:ext cx="41148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uenta encabezado"/>
          <p:cNvSpPr/>
          <p:nvPr/>
        </p:nvSpPr>
        <p:spPr>
          <a:xfrm>
            <a:off x="640080" y="1600200"/>
            <a:ext cx="4114800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Cuenta</a:t>
            </a:r>
          </a:p>
        </p:txBody>
      </p:sp>
      <p:sp>
        <p:nvSpPr>
          <p:cNvPr id="10" name="Cuenta atributos"/>
          <p:cNvSpPr txBox="1"/>
          <p:nvPr/>
        </p:nvSpPr>
        <p:spPr>
          <a:xfrm>
            <a:off x="777240" y="202996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onsolas"/>
              </a:rPr>
              <a:t>String titular</a:t>
            </a:r>
          </a:p>
          <a:p>
            <a:pPr algn="l"/>
            <a:r>
              <a:rPr sz="1100" b="0" i="0">
                <a:solidFill>
                  <a:srgbClr val="111827"/>
                </a:solidFill>
                <a:latin typeface="Consolas"/>
              </a:rPr>
              <a:t>double saldo</a:t>
            </a:r>
          </a:p>
        </p:txBody>
      </p:sp>
      <p:sp>
        <p:nvSpPr>
          <p:cNvPr id="11" name="Cuenta divisor"/>
          <p:cNvSpPr/>
          <p:nvPr/>
        </p:nvSpPr>
        <p:spPr>
          <a:xfrm>
            <a:off x="731520" y="2542032"/>
            <a:ext cx="3931920" cy="13716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uenta métodos"/>
          <p:cNvSpPr txBox="1"/>
          <p:nvPr/>
        </p:nvSpPr>
        <p:spPr>
          <a:xfrm>
            <a:off x="777240" y="2596896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563EB"/>
                </a:solidFill>
                <a:latin typeface="Consolas"/>
              </a:rPr>
              <a:t>getSaldo(): double</a:t>
            </a:r>
          </a:p>
          <a:p>
            <a:pPr algn="l"/>
            <a:r>
              <a:rPr sz="1050" b="0" i="0">
                <a:solidFill>
                  <a:srgbClr val="2563EB"/>
                </a:solidFill>
                <a:latin typeface="Consolas"/>
              </a:rPr>
              <a:t>depositar(double monto): void</a:t>
            </a:r>
          </a:p>
          <a:p>
            <a:pPr algn="l"/>
            <a:r>
              <a:rPr sz="1050" b="0" i="0">
                <a:solidFill>
                  <a:srgbClr val="2563EB"/>
                </a:solidFill>
                <a:latin typeface="Consolas"/>
              </a:rPr>
              <a:t>retirar(double monto): void</a:t>
            </a:r>
          </a:p>
          <a:p>
            <a:pPr algn="l"/>
            <a:r>
              <a:rPr sz="1050" b="0" i="0">
                <a:solidFill>
                  <a:srgbClr val="2563EB"/>
                </a:solidFill>
                <a:latin typeface="Consolas"/>
              </a:rPr>
              <a:t>mostrarSaldo(): void</a:t>
            </a:r>
          </a:p>
        </p:txBody>
      </p:sp>
      <p:sp>
        <p:nvSpPr>
          <p:cNvPr id="13" name="Clase Transaccion"/>
          <p:cNvSpPr/>
          <p:nvPr/>
        </p:nvSpPr>
        <p:spPr>
          <a:xfrm>
            <a:off x="7434072" y="1600200"/>
            <a:ext cx="41148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ransaccion encabezado"/>
          <p:cNvSpPr/>
          <p:nvPr/>
        </p:nvSpPr>
        <p:spPr>
          <a:xfrm>
            <a:off x="7434072" y="1600200"/>
            <a:ext cx="411480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Transaccion</a:t>
            </a:r>
          </a:p>
        </p:txBody>
      </p:sp>
      <p:sp>
        <p:nvSpPr>
          <p:cNvPr id="15" name="Transaccion atributos"/>
          <p:cNvSpPr txBox="1"/>
          <p:nvPr/>
        </p:nvSpPr>
        <p:spPr>
          <a:xfrm>
            <a:off x="7571231" y="202996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onsolas"/>
              </a:rPr>
              <a:t>String tipo</a:t>
            </a:r>
          </a:p>
          <a:p>
            <a:pPr algn="l"/>
            <a:r>
              <a:rPr sz="1100" b="0" i="0">
                <a:solidFill>
                  <a:srgbClr val="111827"/>
                </a:solidFill>
                <a:latin typeface="Consolas"/>
              </a:rPr>
              <a:t>double monto</a:t>
            </a:r>
          </a:p>
        </p:txBody>
      </p:sp>
      <p:sp>
        <p:nvSpPr>
          <p:cNvPr id="16" name="Transaccion divisor"/>
          <p:cNvSpPr/>
          <p:nvPr/>
        </p:nvSpPr>
        <p:spPr>
          <a:xfrm>
            <a:off x="7525512" y="2542032"/>
            <a:ext cx="3931920" cy="13716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nsaccion métodos"/>
          <p:cNvSpPr txBox="1"/>
          <p:nvPr/>
        </p:nvSpPr>
        <p:spPr>
          <a:xfrm>
            <a:off x="7571231" y="2596896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7706"/>
                </a:solidFill>
                <a:latin typeface="Consolas"/>
              </a:rPr>
              <a:t>aplicar(Cuenta cuenta): void</a:t>
            </a:r>
          </a:p>
        </p:txBody>
      </p:sp>
      <p:cxnSp>
        <p:nvCxnSpPr>
          <p:cNvPr id="18" name="Flecha Transaccion hacia Cuenta"/>
          <p:cNvCxnSpPr>
            <a:stCxn id="13" idx="1"/>
            <a:endCxn id="8" idx="3"/>
          </p:cNvCxnSpPr>
          <p:nvPr/>
        </p:nvCxnSpPr>
        <p:spPr>
          <a:xfrm flipH="1" flipV="1">
            <a:off x="4754880" y="2491740"/>
            <a:ext cx="2679192" cy="0"/>
          </a:xfrm>
          <a:prstGeom prst="line">
            <a:avLst/>
          </a:prstGeom>
          <a:ln w="349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tiqueta flecha"/>
          <p:cNvSpPr txBox="1"/>
          <p:nvPr/>
        </p:nvSpPr>
        <p:spPr>
          <a:xfrm>
            <a:off x="4846320" y="182880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F2A44"/>
                </a:solidFill>
                <a:latin typeface="Arial"/>
              </a:rPr>
              <a:t>recibe una Cuenta</a:t>
            </a:r>
          </a:p>
          <a:p>
            <a:pPr algn="ctr"/>
            <a:r>
              <a:rPr sz="1150" b="0" i="0">
                <a:solidFill>
                  <a:srgbClr val="6B7280"/>
                </a:solidFill>
                <a:latin typeface="Arial"/>
              </a:rPr>
              <a:t>como parámetro</a:t>
            </a:r>
          </a:p>
        </p:txBody>
      </p:sp>
      <p:sp>
        <p:nvSpPr>
          <p:cNvPr id="20" name="Código Cuenta"/>
          <p:cNvSpPr/>
          <p:nvPr/>
        </p:nvSpPr>
        <p:spPr>
          <a:xfrm>
            <a:off x="640080" y="3520440"/>
            <a:ext cx="5486400" cy="2834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ódigo Cuenta barra"/>
          <p:cNvSpPr/>
          <p:nvPr/>
        </p:nvSpPr>
        <p:spPr>
          <a:xfrm>
            <a:off x="640080" y="3520440"/>
            <a:ext cx="5486400" cy="31089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tón ventana"/>
          <p:cNvSpPr/>
          <p:nvPr/>
        </p:nvSpPr>
        <p:spPr>
          <a:xfrm>
            <a:off x="777240" y="36210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tón ventana"/>
          <p:cNvSpPr/>
          <p:nvPr/>
        </p:nvSpPr>
        <p:spPr>
          <a:xfrm>
            <a:off x="978408" y="36210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tón ventana"/>
          <p:cNvSpPr/>
          <p:nvPr/>
        </p:nvSpPr>
        <p:spPr>
          <a:xfrm>
            <a:off x="1179576" y="3621024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ódigo Cuenta archivo"/>
          <p:cNvSpPr txBox="1"/>
          <p:nvPr/>
        </p:nvSpPr>
        <p:spPr>
          <a:xfrm>
            <a:off x="1463040" y="3575304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nsolas"/>
              </a:rPr>
              <a:t>Cuenta.java</a:t>
            </a:r>
          </a:p>
        </p:txBody>
      </p:sp>
      <p:sp>
        <p:nvSpPr>
          <p:cNvPr id="26" name="Código Cuenta texto"/>
          <p:cNvSpPr txBox="1"/>
          <p:nvPr/>
        </p:nvSpPr>
        <p:spPr>
          <a:xfrm>
            <a:off x="804671" y="3922776"/>
            <a:ext cx="5212080" cy="2386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69CD6"/>
                </a:solidFill>
                <a:latin typeface="Consolas"/>
              </a:rPr>
              <a:t>public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569CD6"/>
                </a:solidFill>
                <a:latin typeface="Consolas"/>
              </a:rPr>
              <a:t>class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4EC9B0"/>
                </a:solidFill>
                <a:latin typeface="Consolas"/>
              </a:rPr>
              <a:t>Cuenta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</a:t>
            </a:r>
            <a:r>
              <a:rPr sz="950">
                <a:solidFill>
                  <a:srgbClr val="569CD6"/>
                </a:solidFill>
                <a:latin typeface="Consolas"/>
              </a:rPr>
              <a:t>String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titular</a:t>
            </a:r>
            <a:r>
              <a:rPr sz="95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</a:t>
            </a:r>
            <a:r>
              <a:rPr sz="950">
                <a:solidFill>
                  <a:srgbClr val="569CD6"/>
                </a:solidFill>
                <a:latin typeface="Consolas"/>
              </a:rPr>
              <a:t>double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saldo</a:t>
            </a:r>
            <a:r>
              <a:rPr sz="95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sz="570">
                <a:latin typeface="Consolas"/>
              </a:rPr>
              <a:t> 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</a:t>
            </a:r>
            <a:r>
              <a:rPr sz="950">
                <a:solidFill>
                  <a:srgbClr val="569CD6"/>
                </a:solidFill>
                <a:latin typeface="Consolas"/>
              </a:rPr>
              <a:t>public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569CD6"/>
                </a:solidFill>
                <a:latin typeface="Consolas"/>
              </a:rPr>
              <a:t>double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getSaldo</a:t>
            </a:r>
            <a:r>
              <a:rPr sz="950">
                <a:solidFill>
                  <a:srgbClr val="D4D4D4"/>
                </a:solidFill>
                <a:latin typeface="Consolas"/>
              </a:rPr>
              <a:t>(</a:t>
            </a:r>
            <a:r>
              <a:rPr sz="950">
                <a:solidFill>
                  <a:srgbClr val="D4D4D4"/>
                </a:solidFill>
                <a:latin typeface="Consolas"/>
              </a:rPr>
              <a:t>)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569CD6"/>
                </a:solidFill>
                <a:latin typeface="Consolas"/>
              </a:rPr>
              <a:t>return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saldo</a:t>
            </a:r>
            <a:r>
              <a:rPr sz="950">
                <a:solidFill>
                  <a:srgbClr val="D4D4D4"/>
                </a:solidFill>
                <a:latin typeface="Consolas"/>
              </a:rPr>
              <a:t>;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sz="570">
                <a:latin typeface="Consolas"/>
              </a:rPr>
              <a:t> 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</a:t>
            </a:r>
            <a:r>
              <a:rPr sz="950">
                <a:solidFill>
                  <a:srgbClr val="569CD6"/>
                </a:solidFill>
                <a:latin typeface="Consolas"/>
              </a:rPr>
              <a:t>public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569CD6"/>
                </a:solidFill>
                <a:latin typeface="Consolas"/>
              </a:rPr>
              <a:t>void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depositar</a:t>
            </a:r>
            <a:r>
              <a:rPr sz="950">
                <a:solidFill>
                  <a:srgbClr val="D4D4D4"/>
                </a:solidFill>
                <a:latin typeface="Consolas"/>
              </a:rPr>
              <a:t>(</a:t>
            </a:r>
            <a:r>
              <a:rPr sz="950">
                <a:solidFill>
                  <a:srgbClr val="569CD6"/>
                </a:solidFill>
                <a:latin typeface="Consolas"/>
              </a:rPr>
              <a:t>double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monto</a:t>
            </a:r>
            <a:r>
              <a:rPr sz="950">
                <a:solidFill>
                  <a:srgbClr val="D4D4D4"/>
                </a:solidFill>
                <a:latin typeface="Consolas"/>
              </a:rPr>
              <a:t>)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</a:t>
            </a:r>
            <a:r>
              <a:rPr sz="950">
                <a:solidFill>
                  <a:srgbClr val="D4D4D4"/>
                </a:solidFill>
                <a:latin typeface="Consolas"/>
              </a:rPr>
              <a:t>saldo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=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saldo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+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monto</a:t>
            </a:r>
            <a:r>
              <a:rPr sz="95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</a:t>
            </a:r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</a:t>
            </a:r>
            <a:r>
              <a:rPr sz="950">
                <a:solidFill>
                  <a:srgbClr val="569CD6"/>
                </a:solidFill>
                <a:latin typeface="Consolas"/>
              </a:rPr>
              <a:t>public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569CD6"/>
                </a:solidFill>
                <a:latin typeface="Consolas"/>
              </a:rPr>
              <a:t>void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retirar</a:t>
            </a:r>
            <a:r>
              <a:rPr sz="950">
                <a:solidFill>
                  <a:srgbClr val="D4D4D4"/>
                </a:solidFill>
                <a:latin typeface="Consolas"/>
              </a:rPr>
              <a:t>(</a:t>
            </a:r>
            <a:r>
              <a:rPr sz="950">
                <a:solidFill>
                  <a:srgbClr val="569CD6"/>
                </a:solidFill>
                <a:latin typeface="Consolas"/>
              </a:rPr>
              <a:t>double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monto</a:t>
            </a:r>
            <a:r>
              <a:rPr sz="950">
                <a:solidFill>
                  <a:srgbClr val="D4D4D4"/>
                </a:solidFill>
                <a:latin typeface="Consolas"/>
              </a:rPr>
              <a:t>)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</a:t>
            </a:r>
            <a:r>
              <a:rPr sz="950">
                <a:solidFill>
                  <a:srgbClr val="569CD6"/>
                </a:solidFill>
                <a:latin typeface="Consolas"/>
              </a:rPr>
              <a:t>if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(</a:t>
            </a:r>
            <a:r>
              <a:rPr sz="950">
                <a:solidFill>
                  <a:srgbClr val="D4D4D4"/>
                </a:solidFill>
                <a:latin typeface="Consolas"/>
              </a:rPr>
              <a:t>monto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&lt;</a:t>
            </a:r>
            <a:r>
              <a:rPr sz="950">
                <a:solidFill>
                  <a:srgbClr val="D4D4D4"/>
                </a:solidFill>
                <a:latin typeface="Consolas"/>
              </a:rPr>
              <a:t>=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saldo</a:t>
            </a:r>
            <a:r>
              <a:rPr sz="950">
                <a:solidFill>
                  <a:srgbClr val="D4D4D4"/>
                </a:solidFill>
                <a:latin typeface="Consolas"/>
              </a:rPr>
              <a:t>)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950">
                <a:solidFill>
                  <a:srgbClr val="D4D4D4"/>
                </a:solidFill>
                <a:latin typeface="Consolas"/>
              </a:rPr>
              <a:t>saldo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=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saldo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-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monto</a:t>
            </a:r>
            <a:r>
              <a:rPr sz="95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</a:t>
            </a:r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569CD6"/>
                </a:solidFill>
                <a:latin typeface="Consolas"/>
              </a:rPr>
              <a:t>else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950">
                <a:solidFill>
                  <a:srgbClr val="4EC9B0"/>
                </a:solidFill>
                <a:latin typeface="Consolas"/>
              </a:rPr>
              <a:t>System</a:t>
            </a:r>
            <a:r>
              <a:rPr sz="950">
                <a:solidFill>
                  <a:srgbClr val="D4D4D4"/>
                </a:solidFill>
                <a:latin typeface="Consolas"/>
              </a:rPr>
              <a:t>.</a:t>
            </a:r>
            <a:r>
              <a:rPr sz="950">
                <a:solidFill>
                  <a:srgbClr val="D4D4D4"/>
                </a:solidFill>
                <a:latin typeface="Consolas"/>
              </a:rPr>
              <a:t>out</a:t>
            </a:r>
            <a:r>
              <a:rPr sz="950">
                <a:solidFill>
                  <a:srgbClr val="D4D4D4"/>
                </a:solidFill>
                <a:latin typeface="Consolas"/>
              </a:rPr>
              <a:t>.</a:t>
            </a:r>
            <a:r>
              <a:rPr sz="950">
                <a:solidFill>
                  <a:srgbClr val="D4D4D4"/>
                </a:solidFill>
                <a:latin typeface="Consolas"/>
              </a:rPr>
              <a:t>println</a:t>
            </a:r>
            <a:r>
              <a:rPr sz="950">
                <a:solidFill>
                  <a:srgbClr val="D4D4D4"/>
                </a:solidFill>
                <a:latin typeface="Consolas"/>
              </a:rPr>
              <a:t>(</a:t>
            </a:r>
            <a:r>
              <a:rPr sz="950">
                <a:solidFill>
                  <a:srgbClr val="CE9178"/>
                </a:solidFill>
                <a:latin typeface="Consolas"/>
              </a:rPr>
              <a:t>"Fondos insuficientes."</a:t>
            </a:r>
            <a:r>
              <a:rPr sz="950">
                <a:solidFill>
                  <a:srgbClr val="D4D4D4"/>
                </a:solidFill>
                <a:latin typeface="Consolas"/>
              </a:rPr>
              <a:t>)</a:t>
            </a:r>
            <a:r>
              <a:rPr sz="95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</a:t>
            </a:r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</a:t>
            </a:r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27" name="Código Transaccion"/>
          <p:cNvSpPr/>
          <p:nvPr/>
        </p:nvSpPr>
        <p:spPr>
          <a:xfrm>
            <a:off x="6336792" y="3520440"/>
            <a:ext cx="5212080" cy="2834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ódigo Transaccion barra"/>
          <p:cNvSpPr/>
          <p:nvPr/>
        </p:nvSpPr>
        <p:spPr>
          <a:xfrm>
            <a:off x="6336792" y="3520440"/>
            <a:ext cx="5212080" cy="31089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otón ventana"/>
          <p:cNvSpPr/>
          <p:nvPr/>
        </p:nvSpPr>
        <p:spPr>
          <a:xfrm>
            <a:off x="6473952" y="36210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tón ventana"/>
          <p:cNvSpPr/>
          <p:nvPr/>
        </p:nvSpPr>
        <p:spPr>
          <a:xfrm>
            <a:off x="6675120" y="36210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tón ventana"/>
          <p:cNvSpPr/>
          <p:nvPr/>
        </p:nvSpPr>
        <p:spPr>
          <a:xfrm>
            <a:off x="6876288" y="3621024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ódigo Transaccion archivo"/>
          <p:cNvSpPr txBox="1"/>
          <p:nvPr/>
        </p:nvSpPr>
        <p:spPr>
          <a:xfrm>
            <a:off x="7159752" y="3575304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nsolas"/>
              </a:rPr>
              <a:t>Transaccion.java</a:t>
            </a:r>
          </a:p>
        </p:txBody>
      </p:sp>
      <p:sp>
        <p:nvSpPr>
          <p:cNvPr id="33" name="Código Transaccion texto"/>
          <p:cNvSpPr txBox="1"/>
          <p:nvPr/>
        </p:nvSpPr>
        <p:spPr>
          <a:xfrm>
            <a:off x="6501383" y="3922776"/>
            <a:ext cx="4937760" cy="2386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569CD6"/>
                </a:solidFill>
                <a:latin typeface="Consolas"/>
              </a:rPr>
              <a:t>public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569CD6"/>
                </a:solidFill>
                <a:latin typeface="Consolas"/>
              </a:rPr>
              <a:t>class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4EC9B0"/>
                </a:solidFill>
                <a:latin typeface="Consolas"/>
              </a:rPr>
              <a:t>Transaccion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</a:t>
            </a:r>
            <a:r>
              <a:rPr sz="950">
                <a:solidFill>
                  <a:srgbClr val="569CD6"/>
                </a:solidFill>
                <a:latin typeface="Consolas"/>
              </a:rPr>
              <a:t>String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tipo</a:t>
            </a:r>
            <a:r>
              <a:rPr sz="95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</a:t>
            </a:r>
            <a:r>
              <a:rPr sz="950">
                <a:solidFill>
                  <a:srgbClr val="569CD6"/>
                </a:solidFill>
                <a:latin typeface="Consolas"/>
              </a:rPr>
              <a:t>double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monto</a:t>
            </a:r>
            <a:r>
              <a:rPr sz="95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sz="570">
                <a:latin typeface="Consolas"/>
              </a:rPr>
              <a:t> 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</a:t>
            </a:r>
            <a:r>
              <a:rPr sz="950">
                <a:solidFill>
                  <a:srgbClr val="6A9955"/>
                </a:solidFill>
                <a:latin typeface="Consolas"/>
              </a:rPr>
              <a:t>// Recibe un objeto Cuenta como parámetro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</a:t>
            </a:r>
            <a:r>
              <a:rPr sz="950">
                <a:solidFill>
                  <a:srgbClr val="569CD6"/>
                </a:solidFill>
                <a:latin typeface="Consolas"/>
              </a:rPr>
              <a:t>public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569CD6"/>
                </a:solidFill>
                <a:latin typeface="Consolas"/>
              </a:rPr>
              <a:t>void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aplicar</a:t>
            </a:r>
            <a:r>
              <a:rPr sz="950">
                <a:solidFill>
                  <a:srgbClr val="D4D4D4"/>
                </a:solidFill>
                <a:latin typeface="Consolas"/>
              </a:rPr>
              <a:t>(</a:t>
            </a:r>
            <a:r>
              <a:rPr sz="950">
                <a:solidFill>
                  <a:srgbClr val="4EC9B0"/>
                </a:solidFill>
                <a:latin typeface="Consolas"/>
              </a:rPr>
              <a:t>Cuenta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cuenta</a:t>
            </a:r>
            <a:r>
              <a:rPr sz="950">
                <a:solidFill>
                  <a:srgbClr val="D4D4D4"/>
                </a:solidFill>
                <a:latin typeface="Consolas"/>
              </a:rPr>
              <a:t>)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</a:t>
            </a:r>
            <a:r>
              <a:rPr sz="950">
                <a:solidFill>
                  <a:srgbClr val="569CD6"/>
                </a:solidFill>
                <a:latin typeface="Consolas"/>
              </a:rPr>
              <a:t>if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(</a:t>
            </a:r>
            <a:r>
              <a:rPr sz="950">
                <a:solidFill>
                  <a:srgbClr val="D4D4D4"/>
                </a:solidFill>
                <a:latin typeface="Consolas"/>
              </a:rPr>
              <a:t>tipo</a:t>
            </a:r>
            <a:r>
              <a:rPr sz="950">
                <a:solidFill>
                  <a:srgbClr val="D4D4D4"/>
                </a:solidFill>
                <a:latin typeface="Consolas"/>
              </a:rPr>
              <a:t>.</a:t>
            </a:r>
            <a:r>
              <a:rPr sz="950">
                <a:solidFill>
                  <a:srgbClr val="D4D4D4"/>
                </a:solidFill>
                <a:latin typeface="Consolas"/>
              </a:rPr>
              <a:t>equals</a:t>
            </a:r>
            <a:r>
              <a:rPr sz="950">
                <a:solidFill>
                  <a:srgbClr val="D4D4D4"/>
                </a:solidFill>
                <a:latin typeface="Consolas"/>
              </a:rPr>
              <a:t>(</a:t>
            </a:r>
            <a:r>
              <a:rPr sz="950">
                <a:solidFill>
                  <a:srgbClr val="CE9178"/>
                </a:solidFill>
                <a:latin typeface="Consolas"/>
              </a:rPr>
              <a:t>"deposito"</a:t>
            </a:r>
            <a:r>
              <a:rPr sz="950">
                <a:solidFill>
                  <a:srgbClr val="D4D4D4"/>
                </a:solidFill>
                <a:latin typeface="Consolas"/>
              </a:rPr>
              <a:t>)</a:t>
            </a:r>
            <a:r>
              <a:rPr sz="950">
                <a:solidFill>
                  <a:srgbClr val="D4D4D4"/>
                </a:solidFill>
                <a:latin typeface="Consolas"/>
              </a:rPr>
              <a:t>)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950">
                <a:solidFill>
                  <a:srgbClr val="D4D4D4"/>
                </a:solidFill>
                <a:latin typeface="Consolas"/>
              </a:rPr>
              <a:t>cuenta</a:t>
            </a:r>
            <a:r>
              <a:rPr sz="950">
                <a:solidFill>
                  <a:srgbClr val="D4D4D4"/>
                </a:solidFill>
                <a:latin typeface="Consolas"/>
              </a:rPr>
              <a:t>.</a:t>
            </a:r>
            <a:r>
              <a:rPr sz="950">
                <a:solidFill>
                  <a:srgbClr val="D4D4D4"/>
                </a:solidFill>
                <a:latin typeface="Consolas"/>
              </a:rPr>
              <a:t>depositar</a:t>
            </a:r>
            <a:r>
              <a:rPr sz="950">
                <a:solidFill>
                  <a:srgbClr val="D4D4D4"/>
                </a:solidFill>
                <a:latin typeface="Consolas"/>
              </a:rPr>
              <a:t>(</a:t>
            </a:r>
            <a:r>
              <a:rPr sz="950">
                <a:solidFill>
                  <a:srgbClr val="D4D4D4"/>
                </a:solidFill>
                <a:latin typeface="Consolas"/>
              </a:rPr>
              <a:t>monto</a:t>
            </a:r>
            <a:r>
              <a:rPr sz="950">
                <a:solidFill>
                  <a:srgbClr val="D4D4D4"/>
                </a:solidFill>
                <a:latin typeface="Consolas"/>
              </a:rPr>
              <a:t>)</a:t>
            </a:r>
            <a:r>
              <a:rPr sz="95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</a:t>
            </a:r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569CD6"/>
                </a:solidFill>
                <a:latin typeface="Consolas"/>
              </a:rPr>
              <a:t>else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569CD6"/>
                </a:solidFill>
                <a:latin typeface="Consolas"/>
              </a:rPr>
              <a:t>if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(</a:t>
            </a:r>
            <a:r>
              <a:rPr sz="950">
                <a:solidFill>
                  <a:srgbClr val="D4D4D4"/>
                </a:solidFill>
                <a:latin typeface="Consolas"/>
              </a:rPr>
              <a:t>tipo</a:t>
            </a:r>
            <a:r>
              <a:rPr sz="950">
                <a:solidFill>
                  <a:srgbClr val="D4D4D4"/>
                </a:solidFill>
                <a:latin typeface="Consolas"/>
              </a:rPr>
              <a:t>.</a:t>
            </a:r>
            <a:r>
              <a:rPr sz="950">
                <a:solidFill>
                  <a:srgbClr val="D4D4D4"/>
                </a:solidFill>
                <a:latin typeface="Consolas"/>
              </a:rPr>
              <a:t>equals</a:t>
            </a:r>
            <a:r>
              <a:rPr sz="950">
                <a:solidFill>
                  <a:srgbClr val="D4D4D4"/>
                </a:solidFill>
                <a:latin typeface="Consolas"/>
              </a:rPr>
              <a:t>(</a:t>
            </a:r>
            <a:r>
              <a:rPr sz="950">
                <a:solidFill>
                  <a:srgbClr val="CE9178"/>
                </a:solidFill>
                <a:latin typeface="Consolas"/>
              </a:rPr>
              <a:t>"retiro"</a:t>
            </a:r>
            <a:r>
              <a:rPr sz="950">
                <a:solidFill>
                  <a:srgbClr val="D4D4D4"/>
                </a:solidFill>
                <a:latin typeface="Consolas"/>
              </a:rPr>
              <a:t>)</a:t>
            </a:r>
            <a:r>
              <a:rPr sz="950">
                <a:solidFill>
                  <a:srgbClr val="D4D4D4"/>
                </a:solidFill>
                <a:latin typeface="Consolas"/>
              </a:rPr>
              <a:t>)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950">
                <a:solidFill>
                  <a:srgbClr val="D4D4D4"/>
                </a:solidFill>
                <a:latin typeface="Consolas"/>
              </a:rPr>
              <a:t>cuenta</a:t>
            </a:r>
            <a:r>
              <a:rPr sz="950">
                <a:solidFill>
                  <a:srgbClr val="D4D4D4"/>
                </a:solidFill>
                <a:latin typeface="Consolas"/>
              </a:rPr>
              <a:t>.</a:t>
            </a:r>
            <a:r>
              <a:rPr sz="950">
                <a:solidFill>
                  <a:srgbClr val="D4D4D4"/>
                </a:solidFill>
                <a:latin typeface="Consolas"/>
              </a:rPr>
              <a:t>retirar</a:t>
            </a:r>
            <a:r>
              <a:rPr sz="950">
                <a:solidFill>
                  <a:srgbClr val="D4D4D4"/>
                </a:solidFill>
                <a:latin typeface="Consolas"/>
              </a:rPr>
              <a:t>(</a:t>
            </a:r>
            <a:r>
              <a:rPr sz="950">
                <a:solidFill>
                  <a:srgbClr val="D4D4D4"/>
                </a:solidFill>
                <a:latin typeface="Consolas"/>
              </a:rPr>
              <a:t>monto</a:t>
            </a:r>
            <a:r>
              <a:rPr sz="950">
                <a:solidFill>
                  <a:srgbClr val="D4D4D4"/>
                </a:solidFill>
                <a:latin typeface="Consolas"/>
              </a:rPr>
              <a:t>)</a:t>
            </a:r>
            <a:r>
              <a:rPr sz="95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</a:t>
            </a:r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569CD6"/>
                </a:solidFill>
                <a:latin typeface="Consolas"/>
              </a:rPr>
              <a:t>else</a:t>
            </a:r>
            <a:r>
              <a:rPr sz="950">
                <a:solidFill>
                  <a:srgbClr val="D4D4D4"/>
                </a:solidFill>
                <a:latin typeface="Consolas"/>
              </a:rPr>
              <a:t> </a:t>
            </a:r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950">
                <a:solidFill>
                  <a:srgbClr val="4EC9B0"/>
                </a:solidFill>
                <a:latin typeface="Consolas"/>
              </a:rPr>
              <a:t>System</a:t>
            </a:r>
            <a:r>
              <a:rPr sz="950">
                <a:solidFill>
                  <a:srgbClr val="D4D4D4"/>
                </a:solidFill>
                <a:latin typeface="Consolas"/>
              </a:rPr>
              <a:t>.</a:t>
            </a:r>
            <a:r>
              <a:rPr sz="950">
                <a:solidFill>
                  <a:srgbClr val="D4D4D4"/>
                </a:solidFill>
                <a:latin typeface="Consolas"/>
              </a:rPr>
              <a:t>out</a:t>
            </a:r>
            <a:r>
              <a:rPr sz="950">
                <a:solidFill>
                  <a:srgbClr val="D4D4D4"/>
                </a:solidFill>
                <a:latin typeface="Consolas"/>
              </a:rPr>
              <a:t>.</a:t>
            </a:r>
            <a:r>
              <a:rPr sz="950">
                <a:solidFill>
                  <a:srgbClr val="D4D4D4"/>
                </a:solidFill>
                <a:latin typeface="Consolas"/>
              </a:rPr>
              <a:t>println</a:t>
            </a:r>
            <a:r>
              <a:rPr sz="950">
                <a:solidFill>
                  <a:srgbClr val="D4D4D4"/>
                </a:solidFill>
                <a:latin typeface="Consolas"/>
              </a:rPr>
              <a:t>(</a:t>
            </a:r>
            <a:r>
              <a:rPr sz="950">
                <a:solidFill>
                  <a:srgbClr val="CE9178"/>
                </a:solidFill>
                <a:latin typeface="Consolas"/>
              </a:rPr>
              <a:t>"Tipo no valido."</a:t>
            </a:r>
            <a:r>
              <a:rPr sz="950">
                <a:solidFill>
                  <a:srgbClr val="D4D4D4"/>
                </a:solidFill>
                <a:latin typeface="Consolas"/>
              </a:rPr>
              <a:t>)</a:t>
            </a:r>
            <a:r>
              <a:rPr sz="95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    </a:t>
            </a:r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    </a:t>
            </a:r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34" name="Espaciador"/>
          <p:cNvSpPr txBox="1"/>
          <p:nvPr/>
        </p:nvSpPr>
        <p:spPr>
          <a:xfrm>
            <a:off x="640080" y="6291072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" b="0" i="0">
                <a:solidFill>
                  <a:srgbClr val="111827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sección"/>
          <p:cNvSpPr txBox="1"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rial"/>
              </a:rPr>
              <a:t>TALLER · EJERCICIO PRÁCTICO 1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Arial"/>
              </a:rPr>
              <a:t>Clase Producto y Categoría</a:t>
            </a:r>
          </a:p>
        </p:txBody>
      </p:sp>
      <p:sp>
        <p:nvSpPr>
          <p:cNvPr id="5" name="Subrayado título"/>
          <p:cNvSpPr/>
          <p:nvPr/>
        </p:nvSpPr>
        <p:spPr>
          <a:xfrm>
            <a:off x="640080" y="1280160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Algoritmos y Lógica de Programación · Clase 1 · Cierre APE 4</a:t>
            </a:r>
          </a:p>
        </p:txBody>
      </p:sp>
      <p:sp>
        <p:nvSpPr>
          <p:cNvPr id="7" name="Número de diapositiva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8" name="Enunciado"/>
          <p:cNvSpPr/>
          <p:nvPr/>
        </p:nvSpPr>
        <p:spPr>
          <a:xfrm>
            <a:off x="640080" y="1554480"/>
            <a:ext cx="10908792" cy="100584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93C5FD"/>
                </a:solidFill>
                <a:latin typeface="Arial"/>
              </a:rPr>
              <a:t>ENUNCIADO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Crear una clase Categoría (atributos: id, nombre) y una clase Producto que reciba un objeto Categoría como atributo.</a:t>
            </a:r>
          </a:p>
        </p:txBody>
      </p:sp>
      <p:sp>
        <p:nvSpPr>
          <p:cNvPr id="9" name="Franja enunciado"/>
          <p:cNvSpPr/>
          <p:nvPr/>
        </p:nvSpPr>
        <p:spPr>
          <a:xfrm>
            <a:off x="640080" y="1664207"/>
            <a:ext cx="82296" cy="7863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tiqueta requisitos"/>
          <p:cNvSpPr txBox="1"/>
          <p:nvPr/>
        </p:nvSpPr>
        <p:spPr>
          <a:xfrm>
            <a:off x="640080" y="2788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REQUISITOS</a:t>
            </a:r>
          </a:p>
        </p:txBody>
      </p:sp>
      <p:sp>
        <p:nvSpPr>
          <p:cNvPr id="11" name="Tarjeta requisito 1"/>
          <p:cNvSpPr/>
          <p:nvPr/>
        </p:nvSpPr>
        <p:spPr>
          <a:xfrm>
            <a:off x="640080" y="3154680"/>
            <a:ext cx="2331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anja requisito 1"/>
          <p:cNvSpPr/>
          <p:nvPr/>
        </p:nvSpPr>
        <p:spPr>
          <a:xfrm>
            <a:off x="640080" y="3154680"/>
            <a:ext cx="23317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úmero requisito 1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2563EB"/>
                </a:solidFill>
                <a:latin typeface="Arial"/>
              </a:rPr>
              <a:t>1</a:t>
            </a:r>
          </a:p>
        </p:txBody>
      </p:sp>
      <p:sp>
        <p:nvSpPr>
          <p:cNvPr id="14" name="Título requisito 1"/>
          <p:cNvSpPr txBox="1"/>
          <p:nvPr/>
        </p:nvSpPr>
        <p:spPr>
          <a:xfrm>
            <a:off x="1508760" y="34290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6B7280"/>
                </a:solidFill>
                <a:latin typeface="Arial"/>
              </a:rPr>
              <a:t>PASO</a:t>
            </a:r>
          </a:p>
          <a:p>
            <a:pPr algn="l"/>
            <a:r>
              <a:rPr sz="1500" b="1" i="0">
                <a:solidFill>
                  <a:srgbClr val="2563EB"/>
                </a:solidFill>
                <a:latin typeface="Arial"/>
              </a:rPr>
              <a:t>Atributos privados</a:t>
            </a:r>
          </a:p>
        </p:txBody>
      </p:sp>
      <p:sp>
        <p:nvSpPr>
          <p:cNvPr id="15" name="Texto requisito 1"/>
          <p:cNvSpPr txBox="1"/>
          <p:nvPr/>
        </p:nvSpPr>
        <p:spPr>
          <a:xfrm>
            <a:off x="868680" y="4114800"/>
            <a:ext cx="1874519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Arial"/>
              </a:rPr>
              <a:t>Definir atributos privados y sus respectivos Getters y Setters.</a:t>
            </a:r>
          </a:p>
        </p:txBody>
      </p:sp>
      <p:sp>
        <p:nvSpPr>
          <p:cNvPr id="16" name="Tarjeta requisito 2"/>
          <p:cNvSpPr/>
          <p:nvPr/>
        </p:nvSpPr>
        <p:spPr>
          <a:xfrm>
            <a:off x="3127248" y="3154680"/>
            <a:ext cx="2331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anja requisito 2"/>
          <p:cNvSpPr/>
          <p:nvPr/>
        </p:nvSpPr>
        <p:spPr>
          <a:xfrm>
            <a:off x="3127248" y="3154680"/>
            <a:ext cx="2331720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úmero requisito 2"/>
          <p:cNvSpPr/>
          <p:nvPr/>
        </p:nvSpPr>
        <p:spPr>
          <a:xfrm>
            <a:off x="3355848" y="3429000"/>
            <a:ext cx="502920" cy="50292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59669"/>
                </a:solidFill>
                <a:latin typeface="Arial"/>
              </a:rPr>
              <a:t>2</a:t>
            </a:r>
          </a:p>
        </p:txBody>
      </p:sp>
      <p:sp>
        <p:nvSpPr>
          <p:cNvPr id="19" name="Título requisito 2"/>
          <p:cNvSpPr txBox="1"/>
          <p:nvPr/>
        </p:nvSpPr>
        <p:spPr>
          <a:xfrm>
            <a:off x="3995928" y="34290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6B7280"/>
                </a:solidFill>
                <a:latin typeface="Arial"/>
              </a:rPr>
              <a:t>PASO</a:t>
            </a:r>
          </a:p>
          <a:p>
            <a:pPr algn="l"/>
            <a:r>
              <a:rPr sz="1500" b="1" i="0">
                <a:solidFill>
                  <a:srgbClr val="059669"/>
                </a:solidFill>
                <a:latin typeface="Arial"/>
              </a:rPr>
              <a:t>Método de descripción</a:t>
            </a:r>
          </a:p>
        </p:txBody>
      </p:sp>
      <p:sp>
        <p:nvSpPr>
          <p:cNvPr id="20" name="Texto requisito 2"/>
          <p:cNvSpPr txBox="1"/>
          <p:nvPr/>
        </p:nvSpPr>
        <p:spPr>
          <a:xfrm>
            <a:off x="3355848" y="4114800"/>
            <a:ext cx="1874519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Arial"/>
              </a:rPr>
              <a:t>Crear en Producto un método que retorne una cadena con el nombre del producto y el nombre de su categoría.</a:t>
            </a:r>
          </a:p>
        </p:txBody>
      </p:sp>
      <p:sp>
        <p:nvSpPr>
          <p:cNvPr id="21" name="Tarjeta requisito 3"/>
          <p:cNvSpPr/>
          <p:nvPr/>
        </p:nvSpPr>
        <p:spPr>
          <a:xfrm>
            <a:off x="5614416" y="3154680"/>
            <a:ext cx="2331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anja requisito 3"/>
          <p:cNvSpPr/>
          <p:nvPr/>
        </p:nvSpPr>
        <p:spPr>
          <a:xfrm>
            <a:off x="5614416" y="3154680"/>
            <a:ext cx="233172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úmero requisito 3"/>
          <p:cNvSpPr/>
          <p:nvPr/>
        </p:nvSpPr>
        <p:spPr>
          <a:xfrm>
            <a:off x="5843016" y="3429000"/>
            <a:ext cx="502920" cy="50292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D97706"/>
                </a:solidFill>
                <a:latin typeface="Arial"/>
              </a:rPr>
              <a:t>3</a:t>
            </a:r>
          </a:p>
        </p:txBody>
      </p:sp>
      <p:sp>
        <p:nvSpPr>
          <p:cNvPr id="24" name="Título requisito 3"/>
          <p:cNvSpPr txBox="1"/>
          <p:nvPr/>
        </p:nvSpPr>
        <p:spPr>
          <a:xfrm>
            <a:off x="6483096" y="34290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6B7280"/>
                </a:solidFill>
                <a:latin typeface="Arial"/>
              </a:rPr>
              <a:t>PASO</a:t>
            </a:r>
          </a:p>
          <a:p>
            <a:pPr algn="l"/>
            <a:r>
              <a:rPr sz="1500" b="1" i="0">
                <a:solidFill>
                  <a:srgbClr val="D97706"/>
                </a:solidFill>
                <a:latin typeface="Arial"/>
              </a:rPr>
              <a:t>Prueba en main</a:t>
            </a:r>
          </a:p>
        </p:txBody>
      </p:sp>
      <p:sp>
        <p:nvSpPr>
          <p:cNvPr id="25" name="Texto requisito 3"/>
          <p:cNvSpPr txBox="1"/>
          <p:nvPr/>
        </p:nvSpPr>
        <p:spPr>
          <a:xfrm>
            <a:off x="5843016" y="4114800"/>
            <a:ext cx="1874519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Arial"/>
              </a:rPr>
              <a:t>Probar la instanciación en la clase Principal (main).</a:t>
            </a:r>
          </a:p>
        </p:txBody>
      </p:sp>
      <p:sp>
        <p:nvSpPr>
          <p:cNvPr id="26" name="Etiqueta esquema"/>
          <p:cNvSpPr txBox="1"/>
          <p:nvPr/>
        </p:nvSpPr>
        <p:spPr>
          <a:xfrm>
            <a:off x="8183879" y="2788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ESQUEMA DE APOYO</a:t>
            </a:r>
          </a:p>
        </p:txBody>
      </p:sp>
      <p:sp>
        <p:nvSpPr>
          <p:cNvPr id="27" name="Clase Producto"/>
          <p:cNvSpPr/>
          <p:nvPr/>
        </p:nvSpPr>
        <p:spPr>
          <a:xfrm>
            <a:off x="8229600" y="3154680"/>
            <a:ext cx="329184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lase Producto encabezado"/>
          <p:cNvSpPr/>
          <p:nvPr/>
        </p:nvSpPr>
        <p:spPr>
          <a:xfrm>
            <a:off x="8229600" y="3154680"/>
            <a:ext cx="32918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Producto</a:t>
            </a:r>
          </a:p>
        </p:txBody>
      </p:sp>
      <p:sp>
        <p:nvSpPr>
          <p:cNvPr id="29" name="Clase Producto miembros"/>
          <p:cNvSpPr txBox="1"/>
          <p:nvPr/>
        </p:nvSpPr>
        <p:spPr>
          <a:xfrm>
            <a:off x="8366760" y="363016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Categoria categoria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...</a:t>
            </a:r>
          </a:p>
        </p:txBody>
      </p:sp>
      <p:sp>
        <p:nvSpPr>
          <p:cNvPr id="30" name="Clase Categoría"/>
          <p:cNvSpPr/>
          <p:nvPr/>
        </p:nvSpPr>
        <p:spPr>
          <a:xfrm>
            <a:off x="8229600" y="5074920"/>
            <a:ext cx="329184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lase Categoría encabezado"/>
          <p:cNvSpPr/>
          <p:nvPr/>
        </p:nvSpPr>
        <p:spPr>
          <a:xfrm>
            <a:off x="8229600" y="5074920"/>
            <a:ext cx="3291840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Categoría</a:t>
            </a:r>
          </a:p>
        </p:txBody>
      </p:sp>
      <p:sp>
        <p:nvSpPr>
          <p:cNvPr id="32" name="Clase Categoría miembros"/>
          <p:cNvSpPr txBox="1"/>
          <p:nvPr/>
        </p:nvSpPr>
        <p:spPr>
          <a:xfrm>
            <a:off x="8366760" y="555040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int id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String nombre</a:t>
            </a:r>
          </a:p>
        </p:txBody>
      </p:sp>
      <p:cxnSp>
        <p:nvCxnSpPr>
          <p:cNvPr id="33" name="Flecha Producto hacia Categoría"/>
          <p:cNvCxnSpPr>
            <a:stCxn id="27" idx="2"/>
            <a:endCxn id="30" idx="0"/>
          </p:cNvCxnSpPr>
          <p:nvPr/>
        </p:nvCxnSpPr>
        <p:spPr>
          <a:xfrm flipH="1">
            <a:off x="9875520" y="4297680"/>
            <a:ext cx="0" cy="777240"/>
          </a:xfrm>
          <a:prstGeom prst="line">
            <a:avLst/>
          </a:prstGeom>
          <a:ln w="31750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Etiqueta flecha"/>
          <p:cNvSpPr txBox="1"/>
          <p:nvPr/>
        </p:nvSpPr>
        <p:spPr>
          <a:xfrm>
            <a:off x="9966960" y="45262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Arial"/>
              </a:rPr>
              <a:t>tiene una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sección"/>
          <p:cNvSpPr txBox="1"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Arial"/>
              </a:rPr>
              <a:t>TALLER · EJERCICIO PRÁCTICO 2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Arial"/>
              </a:rPr>
              <a:t>Métodos con retorno explícito: CuentaBancaria</a:t>
            </a:r>
          </a:p>
        </p:txBody>
      </p:sp>
      <p:sp>
        <p:nvSpPr>
          <p:cNvPr id="5" name="Subrayado título"/>
          <p:cNvSpPr/>
          <p:nvPr/>
        </p:nvSpPr>
        <p:spPr>
          <a:xfrm>
            <a:off x="640080" y="1280160"/>
            <a:ext cx="822960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Algoritmos y Lógica de Programación · Clase 1 · Cierre APE 4</a:t>
            </a:r>
          </a:p>
        </p:txBody>
      </p:sp>
      <p:sp>
        <p:nvSpPr>
          <p:cNvPr id="7" name="Número de diapositiva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sp>
        <p:nvSpPr>
          <p:cNvPr id="8" name="Enunciado"/>
          <p:cNvSpPr/>
          <p:nvPr/>
        </p:nvSpPr>
        <p:spPr>
          <a:xfrm>
            <a:off x="640080" y="1554480"/>
            <a:ext cx="10908792" cy="100584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93C5FD"/>
                </a:solidFill>
                <a:latin typeface="Arial"/>
              </a:rPr>
              <a:t>ENUNCIADO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Implementar en la clase CuentaBancaria el método retirar(double monto).</a:t>
            </a:r>
          </a:p>
        </p:txBody>
      </p:sp>
      <p:sp>
        <p:nvSpPr>
          <p:cNvPr id="9" name="Franja enunciado"/>
          <p:cNvSpPr/>
          <p:nvPr/>
        </p:nvSpPr>
        <p:spPr>
          <a:xfrm>
            <a:off x="640080" y="1664207"/>
            <a:ext cx="82296" cy="78638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tiqueta firma"/>
          <p:cNvSpPr txBox="1"/>
          <p:nvPr/>
        </p:nvSpPr>
        <p:spPr>
          <a:xfrm>
            <a:off x="640080" y="2743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FIRMA DEL MÉTODO</a:t>
            </a:r>
          </a:p>
        </p:txBody>
      </p:sp>
      <p:sp>
        <p:nvSpPr>
          <p:cNvPr id="11" name="Firma retirar"/>
          <p:cNvSpPr/>
          <p:nvPr/>
        </p:nvSpPr>
        <p:spPr>
          <a:xfrm>
            <a:off x="640080" y="3063240"/>
            <a:ext cx="6035040" cy="10515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irma retirar barra"/>
          <p:cNvSpPr/>
          <p:nvPr/>
        </p:nvSpPr>
        <p:spPr>
          <a:xfrm>
            <a:off x="640080" y="3063240"/>
            <a:ext cx="6035040" cy="31089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tón ventana"/>
          <p:cNvSpPr/>
          <p:nvPr/>
        </p:nvSpPr>
        <p:spPr>
          <a:xfrm>
            <a:off x="777240" y="31638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tón ventana"/>
          <p:cNvSpPr/>
          <p:nvPr/>
        </p:nvSpPr>
        <p:spPr>
          <a:xfrm>
            <a:off x="978408" y="31638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otón ventana"/>
          <p:cNvSpPr/>
          <p:nvPr/>
        </p:nvSpPr>
        <p:spPr>
          <a:xfrm>
            <a:off x="1179576" y="3163824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irma retirar archivo"/>
          <p:cNvSpPr txBox="1"/>
          <p:nvPr/>
        </p:nvSpPr>
        <p:spPr>
          <a:xfrm>
            <a:off x="1463040" y="3118104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nsolas"/>
              </a:rPr>
              <a:t>CuentaBancaria.java</a:t>
            </a:r>
          </a:p>
        </p:txBody>
      </p:sp>
      <p:sp>
        <p:nvSpPr>
          <p:cNvPr id="17" name="Firma retirar texto"/>
          <p:cNvSpPr txBox="1"/>
          <p:nvPr/>
        </p:nvSpPr>
        <p:spPr>
          <a:xfrm>
            <a:off x="804671" y="3465576"/>
            <a:ext cx="5760720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>
                <a:solidFill>
                  <a:srgbClr val="569CD6"/>
                </a:solidFill>
                <a:latin typeface="Consolas"/>
              </a:rPr>
              <a:t>public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569CD6"/>
                </a:solidFill>
                <a:latin typeface="Consolas"/>
              </a:rPr>
              <a:t>boolean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retirar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569CD6"/>
                </a:solidFill>
                <a:latin typeface="Consolas"/>
              </a:rPr>
              <a:t>double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monto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6A9955"/>
                </a:solidFill>
                <a:latin typeface="Consolas"/>
              </a:rPr>
              <a:t>// tu código aquí</a:t>
            </a:r>
          </a:p>
          <a:p>
            <a:r>
              <a:rPr sz="12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8" name="Etiqueta true"/>
          <p:cNvSpPr/>
          <p:nvPr/>
        </p:nvSpPr>
        <p:spPr>
          <a:xfrm>
            <a:off x="6903720" y="3063240"/>
            <a:ext cx="2240280" cy="105156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59669"/>
                </a:solidFill>
                <a:latin typeface="Consolas"/>
              </a:rPr>
              <a:t>true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11827"/>
                </a:solidFill>
                <a:latin typeface="Arial"/>
              </a:rPr>
              <a:t>retiro exitoso</a:t>
            </a:r>
          </a:p>
        </p:txBody>
      </p:sp>
      <p:sp>
        <p:nvSpPr>
          <p:cNvPr id="19" name="Etiqueta false"/>
          <p:cNvSpPr/>
          <p:nvPr/>
        </p:nvSpPr>
        <p:spPr>
          <a:xfrm>
            <a:off x="9281160" y="3063240"/>
            <a:ext cx="2267712" cy="10515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DC2626"/>
                </a:solidFill>
                <a:latin typeface="Consolas"/>
              </a:rPr>
              <a:t>false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11827"/>
                </a:solidFill>
                <a:latin typeface="Arial"/>
              </a:rPr>
              <a:t>saldo insuficiente</a:t>
            </a:r>
          </a:p>
        </p:txBody>
      </p:sp>
      <p:sp>
        <p:nvSpPr>
          <p:cNvPr id="20" name="Etiqueta requisitos"/>
          <p:cNvSpPr txBox="1"/>
          <p:nvPr/>
        </p:nvSpPr>
        <p:spPr>
          <a:xfrm>
            <a:off x="640080" y="4343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REQUISITOS</a:t>
            </a:r>
          </a:p>
        </p:txBody>
      </p:sp>
      <p:sp>
        <p:nvSpPr>
          <p:cNvPr id="21" name="Tarjeta requisito 1"/>
          <p:cNvSpPr/>
          <p:nvPr/>
        </p:nvSpPr>
        <p:spPr>
          <a:xfrm>
            <a:off x="640080" y="466344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anja requisito 1"/>
          <p:cNvSpPr/>
          <p:nvPr/>
        </p:nvSpPr>
        <p:spPr>
          <a:xfrm>
            <a:off x="640080" y="4663440"/>
            <a:ext cx="82296" cy="1645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úmero requisito 1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59669"/>
                </a:solidFill>
                <a:latin typeface="Arial"/>
              </a:rPr>
              <a:t>1</a:t>
            </a:r>
          </a:p>
        </p:txBody>
      </p:sp>
      <p:sp>
        <p:nvSpPr>
          <p:cNvPr id="24" name="Título requisito 1"/>
          <p:cNvSpPr txBox="1"/>
          <p:nvPr/>
        </p:nvSpPr>
        <p:spPr>
          <a:xfrm>
            <a:off x="1463040" y="48006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Arial"/>
              </a:rPr>
              <a:t>Retornar boolean</a:t>
            </a:r>
          </a:p>
        </p:txBody>
      </p:sp>
      <p:sp>
        <p:nvSpPr>
          <p:cNvPr id="25" name="Texto requisito 1"/>
          <p:cNvSpPr txBox="1"/>
          <p:nvPr/>
        </p:nvSpPr>
        <p:spPr>
          <a:xfrm>
            <a:off x="914400" y="5321808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Arial"/>
              </a:rPr>
              <a:t>El método debe retornar un valor de tipo boolean: true si el retiro fue exitoso, false si el saldo es insuficiente.</a:t>
            </a:r>
          </a:p>
        </p:txBody>
      </p:sp>
      <p:sp>
        <p:nvSpPr>
          <p:cNvPr id="26" name="Tarjeta requisito 2"/>
          <p:cNvSpPr/>
          <p:nvPr/>
        </p:nvSpPr>
        <p:spPr>
          <a:xfrm>
            <a:off x="4379976" y="466344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anja requisito 2"/>
          <p:cNvSpPr/>
          <p:nvPr/>
        </p:nvSpPr>
        <p:spPr>
          <a:xfrm>
            <a:off x="4379976" y="4663440"/>
            <a:ext cx="82296" cy="1645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úmero requisito 2"/>
          <p:cNvSpPr/>
          <p:nvPr/>
        </p:nvSpPr>
        <p:spPr>
          <a:xfrm>
            <a:off x="4654296" y="4800600"/>
            <a:ext cx="411480" cy="41148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2563EB"/>
                </a:solidFill>
                <a:latin typeface="Arial"/>
              </a:rPr>
              <a:t>2</a:t>
            </a:r>
          </a:p>
        </p:txBody>
      </p:sp>
      <p:sp>
        <p:nvSpPr>
          <p:cNvPr id="29" name="Título requisito 2"/>
          <p:cNvSpPr txBox="1"/>
          <p:nvPr/>
        </p:nvSpPr>
        <p:spPr>
          <a:xfrm>
            <a:off x="5202936" y="48006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Arial"/>
              </a:rPr>
              <a:t>Validar el monto</a:t>
            </a:r>
          </a:p>
        </p:txBody>
      </p:sp>
      <p:sp>
        <p:nvSpPr>
          <p:cNvPr id="30" name="Texto requisito 2"/>
          <p:cNvSpPr txBox="1"/>
          <p:nvPr/>
        </p:nvSpPr>
        <p:spPr>
          <a:xfrm>
            <a:off x="4654296" y="5321808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Arial"/>
              </a:rPr>
              <a:t>Validar que el monto a retirar no sea mayor al saldo actual.</a:t>
            </a:r>
          </a:p>
        </p:txBody>
      </p:sp>
      <p:sp>
        <p:nvSpPr>
          <p:cNvPr id="31" name="Tarjeta requisito 3"/>
          <p:cNvSpPr/>
          <p:nvPr/>
        </p:nvSpPr>
        <p:spPr>
          <a:xfrm>
            <a:off x="8119871" y="466344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anja requisito 3"/>
          <p:cNvSpPr/>
          <p:nvPr/>
        </p:nvSpPr>
        <p:spPr>
          <a:xfrm>
            <a:off x="8119871" y="4663440"/>
            <a:ext cx="82296" cy="1645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úmero requisito 3"/>
          <p:cNvSpPr/>
          <p:nvPr/>
        </p:nvSpPr>
        <p:spPr>
          <a:xfrm>
            <a:off x="8394192" y="4800600"/>
            <a:ext cx="411480" cy="41148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D97706"/>
                </a:solidFill>
                <a:latin typeface="Arial"/>
              </a:rPr>
              <a:t>3</a:t>
            </a:r>
          </a:p>
        </p:txBody>
      </p:sp>
      <p:sp>
        <p:nvSpPr>
          <p:cNvPr id="34" name="Título requisito 3"/>
          <p:cNvSpPr txBox="1"/>
          <p:nvPr/>
        </p:nvSpPr>
        <p:spPr>
          <a:xfrm>
            <a:off x="8942832" y="48006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Arial"/>
              </a:rPr>
              <a:t>Mensaje en main</a:t>
            </a:r>
          </a:p>
        </p:txBody>
      </p:sp>
      <p:sp>
        <p:nvSpPr>
          <p:cNvPr id="35" name="Texto requisito 3"/>
          <p:cNvSpPr txBox="1"/>
          <p:nvPr/>
        </p:nvSpPr>
        <p:spPr>
          <a:xfrm>
            <a:off x="8394192" y="5321808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Arial"/>
              </a:rPr>
              <a:t>Mostrar un mensaje en el main según el resultado devuelto por el método.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sección"/>
          <p:cNvSpPr txBox="1"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Arial"/>
              </a:rPr>
              <a:t>TALLER · EJERCICIO PRÁCTICO 3 · RETO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Arial"/>
              </a:rPr>
              <a:t>Integración: Vehículo y Mantenimiento</a:t>
            </a:r>
          </a:p>
        </p:txBody>
      </p:sp>
      <p:sp>
        <p:nvSpPr>
          <p:cNvPr id="5" name="Subrayado título"/>
          <p:cNvSpPr/>
          <p:nvPr/>
        </p:nvSpPr>
        <p:spPr>
          <a:xfrm>
            <a:off x="640080" y="1280160"/>
            <a:ext cx="82296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Algoritmos y Lógica de Programación · Clase 1 · Cierre APE 4</a:t>
            </a:r>
          </a:p>
        </p:txBody>
      </p:sp>
      <p:sp>
        <p:nvSpPr>
          <p:cNvPr id="7" name="Número de diapositiva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sp>
        <p:nvSpPr>
          <p:cNvPr id="8" name="Enunciado"/>
          <p:cNvSpPr/>
          <p:nvPr/>
        </p:nvSpPr>
        <p:spPr>
          <a:xfrm>
            <a:off x="640080" y="1554480"/>
            <a:ext cx="10908792" cy="100584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93C5FD"/>
                </a:solidFill>
                <a:latin typeface="Arial"/>
              </a:rPr>
              <a:t>RETO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Diseñar una clase Mantenimiento que registre el historial de servicios de una clase Vehículo.</a:t>
            </a:r>
          </a:p>
        </p:txBody>
      </p:sp>
      <p:sp>
        <p:nvSpPr>
          <p:cNvPr id="9" name="Franja enunciado"/>
          <p:cNvSpPr/>
          <p:nvPr/>
        </p:nvSpPr>
        <p:spPr>
          <a:xfrm>
            <a:off x="640080" y="1664207"/>
            <a:ext cx="82296" cy="78638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ase Mantenimiento"/>
          <p:cNvSpPr/>
          <p:nvPr/>
        </p:nvSpPr>
        <p:spPr>
          <a:xfrm>
            <a:off x="640080" y="2834640"/>
            <a:ext cx="393192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ase Mantenimiento encabezado"/>
          <p:cNvSpPr/>
          <p:nvPr/>
        </p:nvSpPr>
        <p:spPr>
          <a:xfrm>
            <a:off x="640080" y="2834640"/>
            <a:ext cx="393192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Mantenimiento</a:t>
            </a:r>
          </a:p>
        </p:txBody>
      </p:sp>
      <p:sp>
        <p:nvSpPr>
          <p:cNvPr id="12" name="Clase Mantenimiento miembros"/>
          <p:cNvSpPr txBox="1"/>
          <p:nvPr/>
        </p:nvSpPr>
        <p:spPr>
          <a:xfrm>
            <a:off x="777240" y="3310128"/>
            <a:ext cx="365760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registrarServicio(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    Vehiculo v, double costo)</a:t>
            </a:r>
          </a:p>
        </p:txBody>
      </p:sp>
      <p:sp>
        <p:nvSpPr>
          <p:cNvPr id="13" name="Clase Vehiculo"/>
          <p:cNvSpPr/>
          <p:nvPr/>
        </p:nvSpPr>
        <p:spPr>
          <a:xfrm>
            <a:off x="7616952" y="2834640"/>
            <a:ext cx="393192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lase Vehiculo encabezado"/>
          <p:cNvSpPr/>
          <p:nvPr/>
        </p:nvSpPr>
        <p:spPr>
          <a:xfrm>
            <a:off x="7616952" y="2834640"/>
            <a:ext cx="3931920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Vehiculo</a:t>
            </a:r>
          </a:p>
        </p:txBody>
      </p:sp>
      <p:sp>
        <p:nvSpPr>
          <p:cNvPr id="15" name="Clase Vehiculo miembros"/>
          <p:cNvSpPr txBox="1"/>
          <p:nvPr/>
        </p:nvSpPr>
        <p:spPr>
          <a:xfrm>
            <a:off x="7754112" y="3310128"/>
            <a:ext cx="365760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Objeto que se pasa como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parámetro (referencia)</a:t>
            </a:r>
          </a:p>
        </p:txBody>
      </p:sp>
      <p:cxnSp>
        <p:nvCxnSpPr>
          <p:cNvPr id="16" name="Flecha Mantenimiento hacia Vehiculo"/>
          <p:cNvCxnSpPr>
            <a:stCxn id="10" idx="3"/>
            <a:endCxn id="13" idx="1"/>
          </p:cNvCxnSpPr>
          <p:nvPr/>
        </p:nvCxnSpPr>
        <p:spPr>
          <a:xfrm flipV="1">
            <a:off x="4572000" y="3497580"/>
            <a:ext cx="3044952" cy="0"/>
          </a:xfrm>
          <a:prstGeom prst="line">
            <a:avLst/>
          </a:prstGeom>
          <a:ln w="34925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tiqueta flecha"/>
          <p:cNvSpPr txBox="1"/>
          <p:nvPr/>
        </p:nvSpPr>
        <p:spPr>
          <a:xfrm>
            <a:off x="4663440" y="3017520"/>
            <a:ext cx="28620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F2A44"/>
                </a:solidFill>
                <a:latin typeface="Arial"/>
              </a:rPr>
              <a:t>recibe la referencia</a:t>
            </a:r>
          </a:p>
          <a:p>
            <a:pPr algn="ctr"/>
            <a:r>
              <a:rPr sz="1150" b="0" i="0">
                <a:solidFill>
                  <a:srgbClr val="6B7280"/>
                </a:solidFill>
                <a:latin typeface="Arial"/>
              </a:rPr>
              <a:t>v apunta al mismo objeto</a:t>
            </a:r>
          </a:p>
        </p:txBody>
      </p:sp>
      <p:sp>
        <p:nvSpPr>
          <p:cNvPr id="18" name="Etiqueta puntos de control"/>
          <p:cNvSpPr txBox="1"/>
          <p:nvPr/>
        </p:nvSpPr>
        <p:spPr>
          <a:xfrm>
            <a:off x="640080" y="4389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PUNTOS DE CONTROL</a:t>
            </a:r>
          </a:p>
        </p:txBody>
      </p:sp>
      <p:sp>
        <p:nvSpPr>
          <p:cNvPr id="19" name="Tarjeta control 1"/>
          <p:cNvSpPr/>
          <p:nvPr/>
        </p:nvSpPr>
        <p:spPr>
          <a:xfrm>
            <a:off x="640080" y="4709160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anja control 1"/>
          <p:cNvSpPr/>
          <p:nvPr/>
        </p:nvSpPr>
        <p:spPr>
          <a:xfrm>
            <a:off x="640080" y="4709160"/>
            <a:ext cx="342900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tiqueta control 1"/>
          <p:cNvSpPr/>
          <p:nvPr/>
        </p:nvSpPr>
        <p:spPr>
          <a:xfrm>
            <a:off x="868680" y="4919472"/>
            <a:ext cx="1737360" cy="310896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D97706"/>
                </a:solidFill>
                <a:latin typeface="Arial"/>
              </a:rPr>
              <a:t>CONTROL 1</a:t>
            </a:r>
          </a:p>
        </p:txBody>
      </p:sp>
      <p:sp>
        <p:nvSpPr>
          <p:cNvPr id="22" name="Marca control 1"/>
          <p:cNvSpPr txBox="1"/>
          <p:nvPr/>
        </p:nvSpPr>
        <p:spPr>
          <a:xfrm>
            <a:off x="2743200" y="491947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D97706"/>
                </a:solidFill>
                <a:latin typeface="Arial"/>
              </a:rPr>
              <a:t>✓</a:t>
            </a:r>
          </a:p>
        </p:txBody>
      </p:sp>
      <p:sp>
        <p:nvSpPr>
          <p:cNvPr id="23" name="Título control 1"/>
          <p:cNvSpPr txBox="1"/>
          <p:nvPr/>
        </p:nvSpPr>
        <p:spPr>
          <a:xfrm>
            <a:off x="868680" y="5321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Arial"/>
              </a:rPr>
              <a:t>Parámetro objeto</a:t>
            </a:r>
          </a:p>
        </p:txBody>
      </p:sp>
      <p:sp>
        <p:nvSpPr>
          <p:cNvPr id="24" name="Texto control 1"/>
          <p:cNvSpPr txBox="1"/>
          <p:nvPr/>
        </p:nvSpPr>
        <p:spPr>
          <a:xfrm>
            <a:off x="868680" y="559612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Arial"/>
              </a:rPr>
              <a:t>Pasar el objeto Vehículo como parámetro al método registrarServicio(Vehiculo v, double costo).</a:t>
            </a:r>
          </a:p>
        </p:txBody>
      </p:sp>
      <p:sp>
        <p:nvSpPr>
          <p:cNvPr id="25" name="Tarjeta control 2"/>
          <p:cNvSpPr/>
          <p:nvPr/>
        </p:nvSpPr>
        <p:spPr>
          <a:xfrm>
            <a:off x="4379976" y="4709160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anja control 2"/>
          <p:cNvSpPr/>
          <p:nvPr/>
        </p:nvSpPr>
        <p:spPr>
          <a:xfrm>
            <a:off x="4379976" y="4709160"/>
            <a:ext cx="3429000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tiqueta control 2"/>
          <p:cNvSpPr/>
          <p:nvPr/>
        </p:nvSpPr>
        <p:spPr>
          <a:xfrm>
            <a:off x="4608576" y="4919472"/>
            <a:ext cx="1737360" cy="310896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59669"/>
                </a:solidFill>
                <a:latin typeface="Arial"/>
              </a:rPr>
              <a:t>CONTROL 2</a:t>
            </a:r>
          </a:p>
        </p:txBody>
      </p:sp>
      <p:sp>
        <p:nvSpPr>
          <p:cNvPr id="28" name="Marca control 2"/>
          <p:cNvSpPr txBox="1"/>
          <p:nvPr/>
        </p:nvSpPr>
        <p:spPr>
          <a:xfrm>
            <a:off x="6483096" y="491947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059669"/>
                </a:solidFill>
                <a:latin typeface="Arial"/>
              </a:rPr>
              <a:t>✓</a:t>
            </a:r>
          </a:p>
        </p:txBody>
      </p:sp>
      <p:sp>
        <p:nvSpPr>
          <p:cNvPr id="29" name="Título control 2"/>
          <p:cNvSpPr txBox="1"/>
          <p:nvPr/>
        </p:nvSpPr>
        <p:spPr>
          <a:xfrm>
            <a:off x="4608576" y="5321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Arial"/>
              </a:rPr>
              <a:t>Costo acumulado</a:t>
            </a:r>
          </a:p>
        </p:txBody>
      </p:sp>
      <p:sp>
        <p:nvSpPr>
          <p:cNvPr id="30" name="Texto control 2"/>
          <p:cNvSpPr txBox="1"/>
          <p:nvPr/>
        </p:nvSpPr>
        <p:spPr>
          <a:xfrm>
            <a:off x="4608576" y="559612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Arial"/>
              </a:rPr>
              <a:t>Calcular y retornar el costo total acumulado de mantenimientos.</a:t>
            </a:r>
          </a:p>
        </p:txBody>
      </p:sp>
      <p:sp>
        <p:nvSpPr>
          <p:cNvPr id="31" name="Tarjeta control 3"/>
          <p:cNvSpPr/>
          <p:nvPr/>
        </p:nvSpPr>
        <p:spPr>
          <a:xfrm>
            <a:off x="8119871" y="4709160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anja control 3"/>
          <p:cNvSpPr/>
          <p:nvPr/>
        </p:nvSpPr>
        <p:spPr>
          <a:xfrm>
            <a:off x="8119871" y="4709160"/>
            <a:ext cx="342900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tiqueta control 3"/>
          <p:cNvSpPr/>
          <p:nvPr/>
        </p:nvSpPr>
        <p:spPr>
          <a:xfrm>
            <a:off x="8348471" y="4919472"/>
            <a:ext cx="1737360" cy="310896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2563EB"/>
                </a:solidFill>
                <a:latin typeface="Arial"/>
              </a:rPr>
              <a:t>CONTROL 3</a:t>
            </a:r>
          </a:p>
        </p:txBody>
      </p:sp>
      <p:sp>
        <p:nvSpPr>
          <p:cNvPr id="34" name="Marca control 3"/>
          <p:cNvSpPr txBox="1"/>
          <p:nvPr/>
        </p:nvSpPr>
        <p:spPr>
          <a:xfrm>
            <a:off x="10222992" y="491947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2563EB"/>
                </a:solidFill>
                <a:latin typeface="Arial"/>
              </a:rPr>
              <a:t>✓</a:t>
            </a:r>
          </a:p>
        </p:txBody>
      </p:sp>
      <p:sp>
        <p:nvSpPr>
          <p:cNvPr id="35" name="Título control 3"/>
          <p:cNvSpPr txBox="1"/>
          <p:nvPr/>
        </p:nvSpPr>
        <p:spPr>
          <a:xfrm>
            <a:off x="8348471" y="5321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Arial"/>
              </a:rPr>
              <a:t>Por referencia</a:t>
            </a:r>
          </a:p>
        </p:txBody>
      </p:sp>
      <p:sp>
        <p:nvSpPr>
          <p:cNvPr id="36" name="Texto control 3"/>
          <p:cNvSpPr txBox="1"/>
          <p:nvPr/>
        </p:nvSpPr>
        <p:spPr>
          <a:xfrm>
            <a:off x="8348471" y="559612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Arial"/>
              </a:rPr>
              <a:t>Aplicar el concepto de paso de parámetros por referencia.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